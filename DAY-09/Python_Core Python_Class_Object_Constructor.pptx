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23"/>
  </p:notesMasterIdLst>
  <p:sldIdLst>
    <p:sldId id="1185" r:id="rId2"/>
    <p:sldId id="1193" r:id="rId3"/>
    <p:sldId id="1194" r:id="rId4"/>
    <p:sldId id="1187" r:id="rId5"/>
    <p:sldId id="1256" r:id="rId6"/>
    <p:sldId id="1507" r:id="rId7"/>
    <p:sldId id="1250" r:id="rId8"/>
    <p:sldId id="1197" r:id="rId9"/>
    <p:sldId id="1189" r:id="rId10"/>
    <p:sldId id="1254" r:id="rId11"/>
    <p:sldId id="1255" r:id="rId12"/>
    <p:sldId id="1508" r:id="rId13"/>
    <p:sldId id="1509" r:id="rId14"/>
    <p:sldId id="1514" r:id="rId15"/>
    <p:sldId id="1510" r:id="rId16"/>
    <p:sldId id="1511" r:id="rId17"/>
    <p:sldId id="1512" r:id="rId18"/>
    <p:sldId id="1513" r:id="rId19"/>
    <p:sldId id="1506" r:id="rId20"/>
    <p:sldId id="1201" r:id="rId21"/>
    <p:sldId id="120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1" autoAdjust="0"/>
    <p:restoredTop sz="97508" autoAdjust="0"/>
  </p:normalViewPr>
  <p:slideViewPr>
    <p:cSldViewPr snapToGrid="0">
      <p:cViewPr varScale="1">
        <p:scale>
          <a:sx n="81" d="100"/>
          <a:sy n="81" d="100"/>
        </p:scale>
        <p:origin x="845" y="62"/>
      </p:cViewPr>
      <p:guideLst>
        <p:guide orient="horz" pos="2160"/>
        <p:guide pos="3840"/>
      </p:guideLst>
    </p:cSldViewPr>
  </p:slideViewPr>
  <p:notesTextViewPr>
    <p:cViewPr>
      <p:scale>
        <a:sx n="1" d="1"/>
        <a:sy n="1" d="1"/>
      </p:scale>
      <p:origin x="0" y="0"/>
    </p:cViewPr>
  </p:notesTextViewPr>
  <p:sorterViewPr>
    <p:cViewPr>
      <p:scale>
        <a:sx n="66" d="100"/>
        <a:sy n="66" d="100"/>
      </p:scale>
      <p:origin x="0" y="-3609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539514-A94F-4E23-A310-038E53FAA04A}" type="datetimeFigureOut">
              <a:rPr lang="en-US" smtClean="0"/>
              <a:pPr/>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8B1870-099E-441E-B126-FA960B17E2A0}" type="slidenum">
              <a:rPr lang="en-US" smtClean="0"/>
              <a:pPr/>
              <a:t>‹#›</a:t>
            </a:fld>
            <a:endParaRPr lang="en-US"/>
          </a:p>
        </p:txBody>
      </p:sp>
    </p:spTree>
    <p:extLst>
      <p:ext uri="{BB962C8B-B14F-4D97-AF65-F5344CB8AC3E}">
        <p14:creationId xmlns:p14="http://schemas.microsoft.com/office/powerpoint/2010/main" val="2800995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8B1870-099E-441E-B126-FA960B17E2A0}" type="slidenum">
              <a:rPr lang="en-US" smtClean="0"/>
              <a:pPr/>
              <a:t>9</a:t>
            </a:fld>
            <a:endParaRPr lang="en-US"/>
          </a:p>
        </p:txBody>
      </p:sp>
    </p:spTree>
    <p:extLst>
      <p:ext uri="{BB962C8B-B14F-4D97-AF65-F5344CB8AC3E}">
        <p14:creationId xmlns:p14="http://schemas.microsoft.com/office/powerpoint/2010/main" val="1718141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1690592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369637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1807537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9E5C82-598D-4AE0-8D47-B06131F541F7}"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3454848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9E5C82-598D-4AE0-8D47-B06131F541F7}"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4185113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9E5C82-598D-4AE0-8D47-B06131F541F7}"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1028627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9E5C82-598D-4AE0-8D47-B06131F541F7}"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4290419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9E5C82-598D-4AE0-8D47-B06131F541F7}"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3368222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9E5C82-598D-4AE0-8D47-B06131F541F7}"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3567587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1777823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363001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3959446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3560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906470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41478594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9E5C82-598D-4AE0-8D47-B06131F541F7}"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94E305-DCD0-4AD5-876B-E5C63B0F7578}" type="slidenum">
              <a:rPr lang="en-US" smtClean="0"/>
              <a:pPr/>
              <a:t>‹#›</a:t>
            </a:fld>
            <a:endParaRPr lang="en-US"/>
          </a:p>
        </p:txBody>
      </p:sp>
    </p:spTree>
    <p:extLst>
      <p:ext uri="{BB962C8B-B14F-4D97-AF65-F5344CB8AC3E}">
        <p14:creationId xmlns:p14="http://schemas.microsoft.com/office/powerpoint/2010/main" val="2585360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39E5C82-598D-4AE0-8D47-B06131F541F7}" type="datetimeFigureOut">
              <a:rPr lang="en-US" smtClean="0"/>
              <a:pPr/>
              <a:t>9/17/2026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9494E305-DCD0-4AD5-876B-E5C63B0F7578}" type="slidenum">
              <a:rPr lang="en-US" smtClean="0"/>
              <a:pPr/>
              <a:t>‹#›</a:t>
            </a:fld>
            <a:endParaRPr lang="en-US"/>
          </a:p>
        </p:txBody>
      </p:sp>
    </p:spTree>
    <p:extLst>
      <p:ext uri="{BB962C8B-B14F-4D97-AF65-F5344CB8AC3E}">
        <p14:creationId xmlns:p14="http://schemas.microsoft.com/office/powerpoint/2010/main" val="3138196586"/>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OOPs in Python</a:t>
            </a:r>
            <a:br>
              <a:rPr lang="en-US" b="1" dirty="0"/>
            </a:br>
            <a:endParaRPr lang="en-US" dirty="0"/>
          </a:p>
        </p:txBody>
      </p:sp>
      <p:sp>
        <p:nvSpPr>
          <p:cNvPr id="3" name="Content Placeholder 2"/>
          <p:cNvSpPr>
            <a:spLocks noGrp="1"/>
          </p:cNvSpPr>
          <p:nvPr>
            <p:ph idx="1"/>
          </p:nvPr>
        </p:nvSpPr>
        <p:spPr>
          <a:xfrm>
            <a:off x="677333" y="2160589"/>
            <a:ext cx="9880687" cy="3880773"/>
          </a:xfrm>
        </p:spPr>
        <p:txBody>
          <a:bodyPr/>
          <a:lstStyle/>
          <a:p>
            <a:pPr>
              <a:buFont typeface="Wingdings" pitchFamily="2" charset="2"/>
              <a:buChar char="q"/>
            </a:pPr>
            <a:r>
              <a:rPr lang="en-US" sz="2400" b="1" dirty="0">
                <a:solidFill>
                  <a:srgbClr val="FF0000"/>
                </a:solidFill>
              </a:rPr>
              <a:t>OOPs in Python</a:t>
            </a:r>
            <a:r>
              <a:rPr lang="en-US" sz="2400" dirty="0"/>
              <a:t> is a programming approach that focuses on using objects and classes as same as other general programming languages. </a:t>
            </a:r>
          </a:p>
          <a:p>
            <a:pPr>
              <a:buFont typeface="Wingdings" pitchFamily="2" charset="2"/>
              <a:buChar char="q"/>
            </a:pPr>
            <a:r>
              <a:rPr lang="en-US" sz="2400" dirty="0"/>
              <a:t>Python allows developers to develop applications using the OOPs approach with the major focus on code reusability.</a:t>
            </a:r>
          </a:p>
          <a:p>
            <a:pPr>
              <a:buFont typeface="Wingdings" pitchFamily="2" charset="2"/>
              <a:buChar char="q"/>
            </a:pPr>
            <a:r>
              <a:rPr lang="en-US" sz="2400" dirty="0"/>
              <a:t> It is very easy to create classes and objects in Python.</a:t>
            </a:r>
          </a:p>
          <a:p>
            <a:pPr>
              <a:buFont typeface="Wingdings" pitchFamily="2" charset="2"/>
              <a:buChar char="q"/>
            </a:pPr>
            <a:endParaRPr lang="en-US" dirty="0"/>
          </a:p>
        </p:txBody>
      </p:sp>
    </p:spTree>
    <p:extLst>
      <p:ext uri="{BB962C8B-B14F-4D97-AF65-F5344CB8AC3E}">
        <p14:creationId xmlns:p14="http://schemas.microsoft.com/office/powerpoint/2010/main" val="3552512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of OOPs concepts</a:t>
            </a:r>
            <a:br>
              <a:rPr lang="en-US" dirty="0"/>
            </a:br>
            <a:endParaRPr lang="en-US" dirty="0"/>
          </a:p>
        </p:txBody>
      </p:sp>
      <p:sp>
        <p:nvSpPr>
          <p:cNvPr id="3" name="Content Placeholder 2"/>
          <p:cNvSpPr>
            <a:spLocks noGrp="1"/>
          </p:cNvSpPr>
          <p:nvPr>
            <p:ph idx="1"/>
          </p:nvPr>
        </p:nvSpPr>
        <p:spPr/>
        <p:txBody>
          <a:bodyPr/>
          <a:lstStyle/>
          <a:p>
            <a:pPr>
              <a:buFont typeface="+mj-lt"/>
              <a:buAutoNum type="arabicPeriod"/>
            </a:pPr>
            <a:r>
              <a:rPr lang="en-US" sz="2400" dirty="0"/>
              <a:t>Class</a:t>
            </a:r>
          </a:p>
          <a:p>
            <a:pPr>
              <a:buFont typeface="+mj-lt"/>
              <a:buAutoNum type="arabicPeriod"/>
            </a:pPr>
            <a:r>
              <a:rPr lang="en-US" sz="2400" dirty="0"/>
              <a:t>Object</a:t>
            </a:r>
          </a:p>
          <a:p>
            <a:pPr>
              <a:buFont typeface="+mj-lt"/>
              <a:buAutoNum type="arabicPeriod"/>
            </a:pPr>
            <a:r>
              <a:rPr lang="en-US" sz="2400" dirty="0"/>
              <a:t>Method</a:t>
            </a:r>
          </a:p>
          <a:p>
            <a:pPr>
              <a:buFont typeface="+mj-lt"/>
              <a:buAutoNum type="arabicPeriod"/>
            </a:pPr>
            <a:r>
              <a:rPr lang="en-US" sz="2400" dirty="0"/>
              <a:t>Inheritance</a:t>
            </a:r>
          </a:p>
          <a:p>
            <a:pPr>
              <a:buFont typeface="+mj-lt"/>
              <a:buAutoNum type="arabicPeriod"/>
            </a:pPr>
            <a:r>
              <a:rPr lang="en-US" sz="2400" dirty="0"/>
              <a:t>Polymorphism</a:t>
            </a:r>
          </a:p>
          <a:p>
            <a:pPr>
              <a:buFont typeface="+mj-lt"/>
              <a:buAutoNum type="arabicPeriod"/>
            </a:pPr>
            <a:r>
              <a:rPr lang="en-US" sz="2400" dirty="0"/>
              <a:t>Encapsulation</a:t>
            </a:r>
          </a:p>
          <a:p>
            <a:endParaRPr lang="en-US" dirty="0"/>
          </a:p>
        </p:txBody>
      </p:sp>
      <p:sp>
        <p:nvSpPr>
          <p:cNvPr id="4" name="Rectangle 3"/>
          <p:cNvSpPr/>
          <p:nvPr/>
        </p:nvSpPr>
        <p:spPr>
          <a:xfrm>
            <a:off x="1223319" y="2413337"/>
            <a:ext cx="7920681" cy="369332"/>
          </a:xfrm>
          <a:prstGeom prst="rect">
            <a:avLst/>
          </a:prstGeom>
        </p:spPr>
        <p:txBody>
          <a:bodyPr wrap="square">
            <a:spAutoFit/>
          </a:bodyPr>
          <a:lstStyle/>
          <a:p>
            <a:r>
              <a:rPr lang="en-US" dirty="0"/>
              <a:t> </a:t>
            </a:r>
          </a:p>
        </p:txBody>
      </p:sp>
    </p:spTree>
    <p:extLst>
      <p:ext uri="{BB962C8B-B14F-4D97-AF65-F5344CB8AC3E}">
        <p14:creationId xmlns:p14="http://schemas.microsoft.com/office/powerpoint/2010/main" val="4086664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048" y="162004"/>
            <a:ext cx="8596668" cy="1320800"/>
          </a:xfrm>
        </p:spPr>
        <p:txBody>
          <a:bodyPr>
            <a:normAutofit fontScale="90000"/>
          </a:bodyPr>
          <a:lstStyle/>
          <a:p>
            <a:r>
              <a:rPr lang="en-US" dirty="0"/>
              <a:t>Defining a Class in Python</a:t>
            </a:r>
            <a:br>
              <a:rPr lang="en-US" dirty="0"/>
            </a:br>
            <a:r>
              <a:rPr lang="en-US" dirty="0"/>
              <a:t> </a:t>
            </a:r>
            <a:br>
              <a:rPr lang="en-US" dirty="0"/>
            </a:br>
            <a:endParaRPr lang="en-US" dirty="0"/>
          </a:p>
        </p:txBody>
      </p:sp>
      <p:sp>
        <p:nvSpPr>
          <p:cNvPr id="3" name="Content Placeholder 2"/>
          <p:cNvSpPr>
            <a:spLocks noGrp="1"/>
          </p:cNvSpPr>
          <p:nvPr>
            <p:ph idx="1"/>
          </p:nvPr>
        </p:nvSpPr>
        <p:spPr>
          <a:xfrm>
            <a:off x="518474" y="2602353"/>
            <a:ext cx="9846546" cy="4093643"/>
          </a:xfrm>
        </p:spPr>
        <p:txBody>
          <a:bodyPr>
            <a:normAutofit/>
          </a:bodyPr>
          <a:lstStyle/>
          <a:p>
            <a:pPr>
              <a:buFont typeface="Wingdings" pitchFamily="2" charset="2"/>
              <a:buChar char="q"/>
            </a:pPr>
            <a:r>
              <a:rPr lang="en-US" sz="1900" dirty="0"/>
              <a:t>To create a class, use the “</a:t>
            </a:r>
            <a:r>
              <a:rPr lang="en-US" sz="1900" b="1" dirty="0">
                <a:solidFill>
                  <a:srgbClr val="FF0000"/>
                </a:solidFill>
              </a:rPr>
              <a:t>class</a:t>
            </a:r>
            <a:r>
              <a:rPr lang="en-US" sz="1900" dirty="0"/>
              <a:t>” keyword followed by the class name.</a:t>
            </a:r>
          </a:p>
          <a:p>
            <a:pPr>
              <a:buFont typeface="Wingdings" pitchFamily="2" charset="2"/>
              <a:buChar char="q"/>
            </a:pPr>
            <a:r>
              <a:rPr lang="en-US" sz="1900" dirty="0"/>
              <a:t>The end of the Class name must declare a </a:t>
            </a:r>
            <a:r>
              <a:rPr lang="en-US" sz="1900" b="1" dirty="0">
                <a:solidFill>
                  <a:srgbClr val="FF0000"/>
                </a:solidFill>
              </a:rPr>
              <a:t>colon</a:t>
            </a:r>
            <a:r>
              <a:rPr lang="en-US" sz="1900" dirty="0"/>
              <a:t>.</a:t>
            </a:r>
          </a:p>
          <a:p>
            <a:pPr marL="0" indent="0">
              <a:buNone/>
            </a:pPr>
            <a:endParaRPr lang="en-US" sz="1900" dirty="0"/>
          </a:p>
          <a:p>
            <a:pPr marL="0" indent="0">
              <a:buNone/>
            </a:pPr>
            <a:r>
              <a:rPr lang="en-US" b="1" dirty="0"/>
              <a:t> </a:t>
            </a:r>
            <a:r>
              <a:rPr lang="en-US" dirty="0"/>
              <a:t> </a:t>
            </a:r>
            <a:r>
              <a:rPr lang="en-US" sz="2100" b="1" i="1" dirty="0"/>
              <a:t> </a:t>
            </a:r>
            <a:r>
              <a:rPr lang="en-US" sz="2400" b="1" dirty="0"/>
              <a:t>Basic Syntax</a:t>
            </a:r>
          </a:p>
          <a:p>
            <a:pPr marL="0" indent="0">
              <a:buNone/>
            </a:pPr>
            <a:r>
              <a:rPr lang="en-US" dirty="0"/>
              <a:t>class </a:t>
            </a:r>
            <a:r>
              <a:rPr lang="en-US" b="1" dirty="0" err="1">
                <a:solidFill>
                  <a:srgbClr val="FF0000"/>
                </a:solidFill>
              </a:rPr>
              <a:t>ClassName</a:t>
            </a:r>
            <a:r>
              <a:rPr lang="en-US" dirty="0"/>
              <a:t>:</a:t>
            </a:r>
            <a:br>
              <a:rPr lang="en-US" dirty="0"/>
            </a:br>
            <a:r>
              <a:rPr lang="en-US" dirty="0"/>
              <a:t>    </a:t>
            </a:r>
            <a:r>
              <a:rPr lang="en-US" b="1" dirty="0"/>
              <a:t>def method(self):</a:t>
            </a:r>
            <a:br>
              <a:rPr lang="en-US" dirty="0"/>
            </a:br>
            <a:r>
              <a:rPr lang="en-US" dirty="0"/>
              <a:t>        # code</a:t>
            </a:r>
            <a:br>
              <a:rPr lang="en-US" dirty="0"/>
            </a:br>
            <a:br>
              <a:rPr lang="en-US" dirty="0"/>
            </a:br>
            <a:r>
              <a:rPr lang="en-US" b="1" dirty="0"/>
              <a:t># Creating object</a:t>
            </a:r>
            <a:br>
              <a:rPr lang="en-US" dirty="0"/>
            </a:br>
            <a:r>
              <a:rPr lang="en-US" dirty="0"/>
              <a:t>obj = </a:t>
            </a:r>
            <a:r>
              <a:rPr lang="en-US" dirty="0" err="1"/>
              <a:t>ClassName</a:t>
            </a:r>
            <a:r>
              <a:rPr lang="en-US" dirty="0"/>
              <a:t>()</a:t>
            </a:r>
          </a:p>
          <a:p>
            <a:pPr marL="0" indent="0">
              <a:buNone/>
            </a:pPr>
            <a:endParaRPr lang="en-US" sz="2100" b="1" dirty="0"/>
          </a:p>
          <a:p>
            <a:endParaRPr lang="en-US" dirty="0"/>
          </a:p>
        </p:txBody>
      </p:sp>
      <p:sp>
        <p:nvSpPr>
          <p:cNvPr id="4" name="Rectangle 3"/>
          <p:cNvSpPr/>
          <p:nvPr/>
        </p:nvSpPr>
        <p:spPr>
          <a:xfrm>
            <a:off x="606458" y="1001915"/>
            <a:ext cx="9292789" cy="1600438"/>
          </a:xfrm>
          <a:prstGeom prst="rect">
            <a:avLst/>
          </a:prstGeom>
        </p:spPr>
        <p:txBody>
          <a:bodyPr wrap="square">
            <a:spAutoFit/>
          </a:bodyPr>
          <a:lstStyle/>
          <a:p>
            <a:r>
              <a:rPr lang="en-US" sz="2400" b="1" dirty="0"/>
              <a:t>What is a Class?</a:t>
            </a:r>
          </a:p>
          <a:p>
            <a:r>
              <a:rPr lang="en-US" b="1" dirty="0"/>
              <a:t> </a:t>
            </a:r>
          </a:p>
          <a:p>
            <a:r>
              <a:rPr lang="en-US" dirty="0"/>
              <a:t>A </a:t>
            </a:r>
            <a:r>
              <a:rPr lang="en-US" b="1" dirty="0"/>
              <a:t>class</a:t>
            </a:r>
            <a:r>
              <a:rPr lang="en-US" dirty="0"/>
              <a:t> is a blueprint (template) used to create objects.</a:t>
            </a:r>
            <a:br>
              <a:rPr lang="en-US" dirty="0"/>
            </a:br>
            <a:r>
              <a:rPr lang="en-US" dirty="0"/>
              <a:t>It defines </a:t>
            </a:r>
            <a:r>
              <a:rPr lang="en-US" b="1" dirty="0"/>
              <a:t>variables (data)</a:t>
            </a:r>
            <a:r>
              <a:rPr lang="en-US" dirty="0"/>
              <a:t> and </a:t>
            </a:r>
            <a:r>
              <a:rPr lang="en-US" b="1" dirty="0"/>
              <a:t>functions (methods)</a:t>
            </a:r>
            <a:r>
              <a:rPr lang="en-US" dirty="0"/>
              <a:t>.</a:t>
            </a:r>
          </a:p>
          <a:p>
            <a:r>
              <a:rPr lang="en-US" dirty="0"/>
              <a:t> </a:t>
            </a:r>
            <a:endParaRPr lang="en-US" sz="2000" dirty="0"/>
          </a:p>
        </p:txBody>
      </p:sp>
      <p:sp>
        <p:nvSpPr>
          <p:cNvPr id="6" name="TextBox 5">
            <a:extLst>
              <a:ext uri="{FF2B5EF4-FFF2-40B4-BE49-F238E27FC236}">
                <a16:creationId xmlns:a16="http://schemas.microsoft.com/office/drawing/2014/main" id="{4786DA80-60DF-33A8-07A7-3D91FDDDA165}"/>
              </a:ext>
            </a:extLst>
          </p:cNvPr>
          <p:cNvSpPr txBox="1"/>
          <p:nvPr/>
        </p:nvSpPr>
        <p:spPr>
          <a:xfrm>
            <a:off x="4318939" y="3800725"/>
            <a:ext cx="6103854" cy="2585323"/>
          </a:xfrm>
          <a:prstGeom prst="rect">
            <a:avLst/>
          </a:prstGeom>
          <a:noFill/>
        </p:spPr>
        <p:txBody>
          <a:bodyPr wrap="square">
            <a:spAutoFit/>
          </a:bodyPr>
          <a:lstStyle/>
          <a:p>
            <a:pPr rtl="0">
              <a:buNone/>
            </a:pPr>
            <a:r>
              <a:rPr lang="en-US" dirty="0"/>
              <a:t>class Student:</a:t>
            </a:r>
          </a:p>
          <a:p>
            <a:pPr rtl="0">
              <a:buNone/>
            </a:pPr>
            <a:r>
              <a:rPr lang="en-US" dirty="0"/>
              <a:t>       def display(self):</a:t>
            </a:r>
            <a:br>
              <a:rPr lang="en-US" dirty="0"/>
            </a:br>
            <a:r>
              <a:rPr lang="en-US" dirty="0"/>
              <a:t>               print("Welcome Student")</a:t>
            </a:r>
            <a:br>
              <a:rPr lang="en-US" dirty="0"/>
            </a:br>
            <a:br>
              <a:rPr lang="en-US" dirty="0"/>
            </a:br>
            <a:r>
              <a:rPr lang="en-US" b="1" dirty="0"/>
              <a:t># object creation</a:t>
            </a:r>
            <a:br>
              <a:rPr lang="en-US" dirty="0"/>
            </a:br>
            <a:r>
              <a:rPr lang="en-US" dirty="0"/>
              <a:t>s1 = Student()</a:t>
            </a:r>
            <a:br>
              <a:rPr lang="en-US" dirty="0"/>
            </a:br>
            <a:br>
              <a:rPr lang="en-US" dirty="0"/>
            </a:br>
            <a:r>
              <a:rPr lang="en-US" dirty="0"/>
              <a:t># method call</a:t>
            </a:r>
            <a:br>
              <a:rPr lang="en-US" dirty="0"/>
            </a:br>
            <a:r>
              <a:rPr lang="en-US" dirty="0"/>
              <a:t>s1.display()</a:t>
            </a:r>
          </a:p>
        </p:txBody>
      </p:sp>
      <p:sp>
        <p:nvSpPr>
          <p:cNvPr id="8" name="TextBox 7">
            <a:extLst>
              <a:ext uri="{FF2B5EF4-FFF2-40B4-BE49-F238E27FC236}">
                <a16:creationId xmlns:a16="http://schemas.microsoft.com/office/drawing/2014/main" id="{3EB561B2-F886-C59D-7497-E1753E921A28}"/>
              </a:ext>
            </a:extLst>
          </p:cNvPr>
          <p:cNvSpPr txBox="1"/>
          <p:nvPr/>
        </p:nvSpPr>
        <p:spPr>
          <a:xfrm>
            <a:off x="7180869" y="5537884"/>
            <a:ext cx="6103854" cy="923330"/>
          </a:xfrm>
          <a:prstGeom prst="rect">
            <a:avLst/>
          </a:prstGeom>
          <a:noFill/>
        </p:spPr>
        <p:txBody>
          <a:bodyPr wrap="square">
            <a:spAutoFit/>
          </a:bodyPr>
          <a:lstStyle/>
          <a:p>
            <a:pPr>
              <a:buNone/>
            </a:pPr>
            <a:r>
              <a:rPr lang="en-US" b="1" dirty="0"/>
              <a:t>What is </a:t>
            </a:r>
            <a:r>
              <a:rPr lang="en-US" b="1" dirty="0">
                <a:latin typeface="Courier New" panose="02070309020205020404" pitchFamily="49" charset="0"/>
              </a:rPr>
              <a:t>self</a:t>
            </a:r>
            <a:r>
              <a:rPr lang="en-US" b="1" dirty="0"/>
              <a:t>?</a:t>
            </a:r>
          </a:p>
          <a:p>
            <a:pPr>
              <a:buNone/>
            </a:pPr>
            <a:r>
              <a:rPr lang="en-US" dirty="0">
                <a:latin typeface="Courier New" panose="02070309020205020404" pitchFamily="49" charset="0"/>
              </a:rPr>
              <a:t>self</a:t>
            </a:r>
            <a:r>
              <a:rPr lang="en-US" dirty="0"/>
              <a:t> refers to the </a:t>
            </a:r>
            <a:r>
              <a:rPr lang="en-US" b="1" dirty="0"/>
              <a:t>current object</a:t>
            </a:r>
            <a:br>
              <a:rPr lang="en-US" dirty="0"/>
            </a:br>
            <a:r>
              <a:rPr lang="en-US" dirty="0"/>
              <a:t> Used inside class methods to access variables</a:t>
            </a:r>
          </a:p>
        </p:txBody>
      </p:sp>
      <p:sp>
        <p:nvSpPr>
          <p:cNvPr id="9" name="Rectangle 1">
            <a:extLst>
              <a:ext uri="{FF2B5EF4-FFF2-40B4-BE49-F238E27FC236}">
                <a16:creationId xmlns:a16="http://schemas.microsoft.com/office/drawing/2014/main" id="{2C77C6FB-9460-E046-485E-0792238C8756}"/>
              </a:ext>
            </a:extLst>
          </p:cNvPr>
          <p:cNvSpPr>
            <a:spLocks noChangeArrowheads="1"/>
          </p:cNvSpPr>
          <p:nvPr/>
        </p:nvSpPr>
        <p:spPr bwMode="auto">
          <a:xfrm>
            <a:off x="8050491" y="1241685"/>
            <a:ext cx="3804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Attributes</a:t>
            </a:r>
            <a:r>
              <a:rPr kumimoji="0" lang="en-US" altLang="en-US" sz="1800" b="0" i="0" u="none" strike="noStrike" cap="none" normalizeH="0" baseline="0" dirty="0">
                <a:ln>
                  <a:noFill/>
                </a:ln>
                <a:solidFill>
                  <a:schemeClr val="tx1"/>
                </a:solidFill>
                <a:effectLst/>
                <a:latin typeface="Arial" panose="020B0604020202020204" pitchFamily="34" charset="0"/>
              </a:rPr>
              <a:t> → Data/Properties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Methods</a:t>
            </a:r>
            <a:r>
              <a:rPr kumimoji="0" lang="en-US" altLang="en-US" sz="1800" b="0" i="0" u="none" strike="noStrike" cap="none" normalizeH="0" baseline="0" dirty="0">
                <a:ln>
                  <a:noFill/>
                </a:ln>
                <a:solidFill>
                  <a:schemeClr val="tx1"/>
                </a:solidFill>
                <a:effectLst/>
                <a:latin typeface="Arial" panose="020B0604020202020204" pitchFamily="34" charset="0"/>
              </a:rPr>
              <a:t> → Functions/</a:t>
            </a:r>
            <a:r>
              <a:rPr kumimoji="0" lang="en-US" altLang="en-US" sz="1800" b="0" i="0" u="none" strike="noStrike" cap="none" normalizeH="0" baseline="0" dirty="0" err="1">
                <a:ln>
                  <a:noFill/>
                </a:ln>
                <a:solidFill>
                  <a:schemeClr val="tx1"/>
                </a:solidFill>
                <a:effectLst/>
                <a:latin typeface="Arial" panose="020B0604020202020204" pitchFamily="34" charset="0"/>
              </a:rPr>
              <a:t>Behaviour</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17191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08919"/>
            <a:ext cx="8596668" cy="6400800"/>
          </a:xfrm>
        </p:spPr>
        <p:txBody>
          <a:bodyPr>
            <a:normAutofit/>
          </a:bodyPr>
          <a:lstStyle/>
          <a:p>
            <a:pPr marL="0" indent="0">
              <a:buNone/>
            </a:pPr>
            <a:r>
              <a:rPr lang="en-US" b="1" dirty="0"/>
              <a:t> </a:t>
            </a:r>
            <a:endParaRPr lang="en-US" dirty="0"/>
          </a:p>
          <a:p>
            <a:endParaRPr lang="en-US" dirty="0"/>
          </a:p>
          <a:p>
            <a:endParaRPr lang="en-US" dirty="0"/>
          </a:p>
          <a:p>
            <a:endParaRPr lang="en-US" dirty="0"/>
          </a:p>
          <a:p>
            <a:endParaRPr lang="en-US" dirty="0"/>
          </a:p>
          <a:p>
            <a:endParaRPr lang="en-US" dirty="0"/>
          </a:p>
          <a:p>
            <a:pPr>
              <a:buFont typeface="Wingdings" pitchFamily="2" charset="2"/>
              <a:buChar char="v"/>
            </a:pPr>
            <a:r>
              <a:rPr lang="en-US" b="1" dirty="0"/>
              <a:t>NOTE</a:t>
            </a:r>
            <a:r>
              <a:rPr lang="en-US" dirty="0"/>
              <a:t>: About using "</a:t>
            </a:r>
            <a:r>
              <a:rPr lang="en-US" dirty="0">
                <a:solidFill>
                  <a:srgbClr val="FF0000"/>
                </a:solidFill>
              </a:rPr>
              <a:t>self</a:t>
            </a:r>
            <a:r>
              <a:rPr lang="en-US" dirty="0"/>
              <a:t>" in Python</a:t>
            </a:r>
          </a:p>
          <a:p>
            <a:pPr>
              <a:buFont typeface="Wingdings" pitchFamily="2" charset="2"/>
              <a:buChar char="v"/>
            </a:pPr>
            <a:r>
              <a:rPr lang="en-US" dirty="0"/>
              <a:t>The self-argument refers to the object itself. Hence the use of the word self. So inside this method, self will refer to the specific instance of this object that's being operated on.</a:t>
            </a:r>
          </a:p>
          <a:p>
            <a:pPr>
              <a:buFont typeface="Wingdings" pitchFamily="2" charset="2"/>
              <a:buChar char="v"/>
            </a:pPr>
            <a:r>
              <a:rPr lang="en-US" dirty="0"/>
              <a:t>Self is the name preferred by convention by Pythons to indicate the </a:t>
            </a:r>
            <a:r>
              <a:rPr lang="en-US" dirty="0">
                <a:solidFill>
                  <a:srgbClr val="FF0000"/>
                </a:solidFill>
              </a:rPr>
              <a:t>first parameter</a:t>
            </a:r>
            <a:r>
              <a:rPr lang="en-US" dirty="0"/>
              <a:t> of instance methods in Python. </a:t>
            </a:r>
            <a:r>
              <a:rPr lang="en-US" dirty="0">
                <a:solidFill>
                  <a:schemeClr val="accent1">
                    <a:lumMod val="75000"/>
                  </a:schemeClr>
                </a:solidFill>
              </a:rPr>
              <a:t>It is part of the Python syntax to access members of objects</a:t>
            </a:r>
          </a:p>
          <a:p>
            <a:pPr marL="0" indent="0">
              <a:buNone/>
            </a:pPr>
            <a:r>
              <a:rPr lang="en-US" b="1" dirty="0"/>
              <a:t> </a:t>
            </a:r>
            <a:endParaRPr lang="en-US" dirty="0">
              <a:solidFill>
                <a:srgbClr val="FF0000"/>
              </a:solidFill>
            </a:endParaRPr>
          </a:p>
          <a:p>
            <a:endParaRPr lang="en-US" dirty="0"/>
          </a:p>
          <a:p>
            <a:endParaRPr lang="en-US" dirty="0"/>
          </a:p>
          <a:p>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983" y="226021"/>
            <a:ext cx="6147473" cy="2073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0349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23" y="86497"/>
            <a:ext cx="9144000" cy="4643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636" y="5372021"/>
            <a:ext cx="6941922" cy="1175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28201214-C8F8-F262-A413-B21E768ACC5B}"/>
              </a:ext>
            </a:extLst>
          </p:cNvPr>
          <p:cNvSpPr txBox="1"/>
          <p:nvPr/>
        </p:nvSpPr>
        <p:spPr>
          <a:xfrm>
            <a:off x="6088146" y="731454"/>
            <a:ext cx="6103854" cy="923330"/>
          </a:xfrm>
          <a:prstGeom prst="rect">
            <a:avLst/>
          </a:prstGeom>
          <a:noFill/>
        </p:spPr>
        <p:txBody>
          <a:bodyPr wrap="square">
            <a:spAutoFit/>
          </a:bodyPr>
          <a:lstStyle/>
          <a:p>
            <a:pPr>
              <a:buNone/>
            </a:pPr>
            <a:r>
              <a:rPr lang="en-US" b="1" dirty="0"/>
              <a:t>What is </a:t>
            </a:r>
            <a:r>
              <a:rPr lang="en-US" b="1" dirty="0">
                <a:latin typeface="Courier New" panose="02070309020205020404" pitchFamily="49" charset="0"/>
              </a:rPr>
              <a:t>self</a:t>
            </a:r>
            <a:r>
              <a:rPr lang="en-US" b="1" dirty="0"/>
              <a:t>?</a:t>
            </a:r>
          </a:p>
          <a:p>
            <a:pPr>
              <a:buNone/>
            </a:pPr>
            <a:r>
              <a:rPr lang="en-US" dirty="0">
                <a:latin typeface="Courier New" panose="02070309020205020404" pitchFamily="49" charset="0"/>
              </a:rPr>
              <a:t>self</a:t>
            </a:r>
            <a:r>
              <a:rPr lang="en-US" dirty="0"/>
              <a:t> refers to the </a:t>
            </a:r>
            <a:r>
              <a:rPr lang="en-US" b="1" dirty="0"/>
              <a:t>current object</a:t>
            </a:r>
            <a:br>
              <a:rPr lang="en-US" dirty="0"/>
            </a:br>
            <a:r>
              <a:rPr lang="en-US" dirty="0"/>
              <a:t> Used inside class methods to access variables</a:t>
            </a:r>
          </a:p>
        </p:txBody>
      </p:sp>
    </p:spTree>
    <p:extLst>
      <p:ext uri="{BB962C8B-B14F-4D97-AF65-F5344CB8AC3E}">
        <p14:creationId xmlns:p14="http://schemas.microsoft.com/office/powerpoint/2010/main" val="4014148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7E128E-4EF7-A0B8-D3F5-ADDD789591C1}"/>
              </a:ext>
            </a:extLst>
          </p:cNvPr>
          <p:cNvSpPr txBox="1"/>
          <p:nvPr/>
        </p:nvSpPr>
        <p:spPr>
          <a:xfrm>
            <a:off x="886120" y="537328"/>
            <a:ext cx="8872978" cy="5078313"/>
          </a:xfrm>
          <a:prstGeom prst="rect">
            <a:avLst/>
          </a:prstGeom>
          <a:noFill/>
        </p:spPr>
        <p:txBody>
          <a:bodyPr wrap="square">
            <a:spAutoFit/>
          </a:bodyPr>
          <a:lstStyle/>
          <a:p>
            <a:r>
              <a:rPr lang="en-IN" dirty="0"/>
              <a:t>class Student:</a:t>
            </a:r>
          </a:p>
          <a:p>
            <a:r>
              <a:rPr lang="en-IN" dirty="0"/>
              <a:t>    </a:t>
            </a:r>
            <a:r>
              <a:rPr lang="en-IN" b="1" dirty="0"/>
              <a:t># Method</a:t>
            </a:r>
          </a:p>
          <a:p>
            <a:r>
              <a:rPr lang="en-IN" dirty="0"/>
              <a:t>    def </a:t>
            </a:r>
            <a:r>
              <a:rPr lang="en-IN" dirty="0" err="1"/>
              <a:t>display_details</a:t>
            </a:r>
            <a:r>
              <a:rPr lang="en-IN" dirty="0"/>
              <a:t>(self):</a:t>
            </a:r>
          </a:p>
          <a:p>
            <a:r>
              <a:rPr lang="en-IN" dirty="0"/>
              <a:t>        print("Name:", self.name)</a:t>
            </a:r>
          </a:p>
          <a:p>
            <a:r>
              <a:rPr lang="en-IN" dirty="0"/>
              <a:t>        print("Age:", </a:t>
            </a:r>
            <a:r>
              <a:rPr lang="en-IN" dirty="0" err="1"/>
              <a:t>self.age</a:t>
            </a:r>
            <a:r>
              <a:rPr lang="en-IN" dirty="0"/>
              <a:t>)</a:t>
            </a:r>
          </a:p>
          <a:p>
            <a:r>
              <a:rPr lang="en-IN" dirty="0"/>
              <a:t>        print("Marks:", </a:t>
            </a:r>
            <a:r>
              <a:rPr lang="en-IN" dirty="0" err="1"/>
              <a:t>self.marks</a:t>
            </a:r>
            <a:r>
              <a:rPr lang="en-IN" dirty="0"/>
              <a:t>)</a:t>
            </a:r>
          </a:p>
          <a:p>
            <a:endParaRPr lang="en-IN" dirty="0"/>
          </a:p>
          <a:p>
            <a:endParaRPr lang="en-IN" dirty="0"/>
          </a:p>
          <a:p>
            <a:r>
              <a:rPr lang="en-IN" b="1" dirty="0"/>
              <a:t># Creating Object</a:t>
            </a:r>
          </a:p>
          <a:p>
            <a:r>
              <a:rPr lang="en-IN" dirty="0"/>
              <a:t>student1 = Student()</a:t>
            </a:r>
          </a:p>
          <a:p>
            <a:endParaRPr lang="en-IN" dirty="0"/>
          </a:p>
          <a:p>
            <a:r>
              <a:rPr lang="en-IN" b="1" dirty="0"/>
              <a:t># Assigning values</a:t>
            </a:r>
          </a:p>
          <a:p>
            <a:r>
              <a:rPr lang="en-IN" dirty="0"/>
              <a:t>student1.name = "Jaya"</a:t>
            </a:r>
          </a:p>
          <a:p>
            <a:r>
              <a:rPr lang="en-IN" dirty="0"/>
              <a:t>student1.age = 20</a:t>
            </a:r>
          </a:p>
          <a:p>
            <a:r>
              <a:rPr lang="en-IN" dirty="0"/>
              <a:t>student1.marks = 85.5</a:t>
            </a:r>
          </a:p>
          <a:p>
            <a:endParaRPr lang="en-IN" b="1" dirty="0"/>
          </a:p>
          <a:p>
            <a:r>
              <a:rPr lang="en-IN" b="1" dirty="0"/>
              <a:t># Calling method</a:t>
            </a:r>
          </a:p>
          <a:p>
            <a:r>
              <a:rPr lang="en-IN" dirty="0"/>
              <a:t>student1.display_details()</a:t>
            </a:r>
          </a:p>
        </p:txBody>
      </p:sp>
      <p:sp>
        <p:nvSpPr>
          <p:cNvPr id="7" name="TextBox 6">
            <a:extLst>
              <a:ext uri="{FF2B5EF4-FFF2-40B4-BE49-F238E27FC236}">
                <a16:creationId xmlns:a16="http://schemas.microsoft.com/office/drawing/2014/main" id="{B5148945-91C8-5E52-51FF-C3BEC7A17CF3}"/>
              </a:ext>
            </a:extLst>
          </p:cNvPr>
          <p:cNvSpPr txBox="1"/>
          <p:nvPr/>
        </p:nvSpPr>
        <p:spPr>
          <a:xfrm>
            <a:off x="4588497" y="5216173"/>
            <a:ext cx="6103854" cy="1200329"/>
          </a:xfrm>
          <a:prstGeom prst="rect">
            <a:avLst/>
          </a:prstGeom>
          <a:noFill/>
        </p:spPr>
        <p:txBody>
          <a:bodyPr wrap="square">
            <a:spAutoFit/>
          </a:bodyPr>
          <a:lstStyle/>
          <a:p>
            <a:pPr>
              <a:buNone/>
            </a:pPr>
            <a:r>
              <a:rPr lang="en-US" b="1" dirty="0"/>
              <a:t>Output</a:t>
            </a:r>
          </a:p>
          <a:p>
            <a:pPr rtl="0">
              <a:buNone/>
            </a:pPr>
            <a:r>
              <a:rPr lang="en-US" dirty="0">
                <a:latin typeface="Courier New" panose="02070309020205020404" pitchFamily="49" charset="0"/>
              </a:rPr>
              <a:t>Name: Jaya</a:t>
            </a:r>
          </a:p>
          <a:p>
            <a:pPr rtl="0">
              <a:buNone/>
            </a:pPr>
            <a:r>
              <a:rPr lang="en-US" dirty="0">
                <a:latin typeface="Courier New" panose="02070309020205020404" pitchFamily="49" charset="0"/>
              </a:rPr>
              <a:t>Age: 20</a:t>
            </a:r>
          </a:p>
          <a:p>
            <a:pPr rtl="0">
              <a:buNone/>
            </a:pPr>
            <a:r>
              <a:rPr lang="en-US" dirty="0">
                <a:latin typeface="Courier New" panose="02070309020205020404" pitchFamily="49" charset="0"/>
              </a:rPr>
              <a:t>Marks: 85.5</a:t>
            </a:r>
          </a:p>
        </p:txBody>
      </p:sp>
    </p:spTree>
    <p:extLst>
      <p:ext uri="{BB962C8B-B14F-4D97-AF65-F5344CB8AC3E}">
        <p14:creationId xmlns:p14="http://schemas.microsoft.com/office/powerpoint/2010/main" val="3236481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562" y="0"/>
            <a:ext cx="7315199" cy="573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7479" y="5844746"/>
            <a:ext cx="5331941" cy="927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711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9053" y="274718"/>
            <a:ext cx="8596668" cy="1320800"/>
          </a:xfrm>
        </p:spPr>
        <p:txBody>
          <a:bodyPr/>
          <a:lstStyle/>
          <a:p>
            <a:r>
              <a:rPr lang="en-US" dirty="0"/>
              <a:t>Python - Constructor</a:t>
            </a:r>
          </a:p>
        </p:txBody>
      </p:sp>
      <p:sp>
        <p:nvSpPr>
          <p:cNvPr id="3" name="Content Placeholder 2"/>
          <p:cNvSpPr>
            <a:spLocks noGrp="1"/>
          </p:cNvSpPr>
          <p:nvPr>
            <p:ph idx="1"/>
          </p:nvPr>
        </p:nvSpPr>
        <p:spPr>
          <a:xfrm>
            <a:off x="197708" y="1037968"/>
            <a:ext cx="10911016" cy="5721177"/>
          </a:xfrm>
        </p:spPr>
        <p:txBody>
          <a:bodyPr>
            <a:normAutofit/>
          </a:bodyPr>
          <a:lstStyle/>
          <a:p>
            <a:pPr>
              <a:buFont typeface="Wingdings" pitchFamily="2" charset="2"/>
              <a:buChar char="q"/>
            </a:pPr>
            <a:r>
              <a:rPr lang="en-US" dirty="0"/>
              <a:t>A constructor is a special kind of method which is used for </a:t>
            </a:r>
            <a:r>
              <a:rPr lang="en-US" dirty="0">
                <a:solidFill>
                  <a:schemeClr val="accent1">
                    <a:lumMod val="75000"/>
                  </a:schemeClr>
                </a:solidFill>
              </a:rPr>
              <a:t>initializing</a:t>
            </a:r>
            <a:r>
              <a:rPr lang="en-US" dirty="0"/>
              <a:t> the instance variables during </a:t>
            </a:r>
            <a:r>
              <a:rPr lang="en-US" dirty="0">
                <a:solidFill>
                  <a:schemeClr val="accent1">
                    <a:lumMod val="75000"/>
                  </a:schemeClr>
                </a:solidFill>
              </a:rPr>
              <a:t>object creation</a:t>
            </a:r>
            <a:r>
              <a:rPr lang="en-US" dirty="0"/>
              <a:t>. </a:t>
            </a:r>
          </a:p>
          <a:p>
            <a:pPr>
              <a:buFont typeface="Wingdings" pitchFamily="2" charset="2"/>
              <a:buChar char="q"/>
            </a:pPr>
            <a:r>
              <a:rPr lang="en-US" dirty="0"/>
              <a:t> constructor always has a name </a:t>
            </a:r>
            <a:r>
              <a:rPr lang="en-US" dirty="0" err="1"/>
              <a:t>init</a:t>
            </a:r>
            <a:r>
              <a:rPr lang="en-US" dirty="0"/>
              <a:t> and the name </a:t>
            </a:r>
            <a:r>
              <a:rPr lang="en-US" dirty="0" err="1"/>
              <a:t>init</a:t>
            </a:r>
            <a:r>
              <a:rPr lang="en-US" dirty="0"/>
              <a:t> is </a:t>
            </a:r>
            <a:r>
              <a:rPr lang="en-US" dirty="0">
                <a:solidFill>
                  <a:schemeClr val="accent1">
                    <a:lumMod val="75000"/>
                  </a:schemeClr>
                </a:solidFill>
              </a:rPr>
              <a:t>prefixed</a:t>
            </a:r>
            <a:r>
              <a:rPr lang="en-US" dirty="0"/>
              <a:t> and </a:t>
            </a:r>
            <a:r>
              <a:rPr lang="en-US" dirty="0">
                <a:solidFill>
                  <a:schemeClr val="accent1">
                    <a:lumMod val="75000"/>
                  </a:schemeClr>
                </a:solidFill>
              </a:rPr>
              <a:t>suffixed</a:t>
            </a:r>
            <a:r>
              <a:rPr lang="en-US" dirty="0"/>
              <a:t> with a double underscore(_ _). </a:t>
            </a:r>
          </a:p>
          <a:p>
            <a:pPr>
              <a:buFont typeface="Wingdings" pitchFamily="2" charset="2"/>
              <a:buChar char="q"/>
            </a:pPr>
            <a:r>
              <a:rPr lang="en-US" dirty="0"/>
              <a:t> declare a constructor using </a:t>
            </a:r>
            <a:r>
              <a:rPr lang="en-US" dirty="0" err="1">
                <a:solidFill>
                  <a:schemeClr val="accent6">
                    <a:lumMod val="75000"/>
                  </a:schemeClr>
                </a:solidFill>
              </a:rPr>
              <a:t>def</a:t>
            </a:r>
            <a:r>
              <a:rPr lang="en-US" dirty="0"/>
              <a:t> keyword, just like methods.</a:t>
            </a:r>
          </a:p>
          <a:p>
            <a:pPr marL="0" indent="0">
              <a:buNone/>
            </a:pPr>
            <a:r>
              <a:rPr lang="en-US" b="1" dirty="0">
                <a:solidFill>
                  <a:srgbClr val="FF0000"/>
                </a:solidFill>
              </a:rPr>
              <a:t>Syntax of constructor declaration</a:t>
            </a:r>
          </a:p>
          <a:p>
            <a:pPr marL="0" indent="0">
              <a:buNone/>
            </a:pPr>
            <a:r>
              <a:rPr lang="en-US" dirty="0">
                <a:solidFill>
                  <a:schemeClr val="accent6">
                    <a:lumMod val="75000"/>
                  </a:schemeClr>
                </a:solidFill>
              </a:rPr>
              <a:t> def _ _</a:t>
            </a:r>
            <a:r>
              <a:rPr lang="en-US" dirty="0" err="1">
                <a:solidFill>
                  <a:schemeClr val="accent6">
                    <a:lumMod val="75000"/>
                  </a:schemeClr>
                </a:solidFill>
              </a:rPr>
              <a:t>init</a:t>
            </a:r>
            <a:r>
              <a:rPr lang="en-US" dirty="0">
                <a:solidFill>
                  <a:schemeClr val="accent6">
                    <a:lumMod val="75000"/>
                  </a:schemeClr>
                </a:solidFill>
              </a:rPr>
              <a:t>_ _(self):</a:t>
            </a:r>
          </a:p>
          <a:p>
            <a:pPr marL="0" indent="0">
              <a:buNone/>
            </a:pPr>
            <a:r>
              <a:rPr lang="en-US" dirty="0">
                <a:solidFill>
                  <a:schemeClr val="accent6">
                    <a:lumMod val="75000"/>
                  </a:schemeClr>
                </a:solidFill>
              </a:rPr>
              <a:t>        # body of the constructor</a:t>
            </a:r>
          </a:p>
          <a:p>
            <a:pPr marL="0" indent="0">
              <a:buNone/>
            </a:pPr>
            <a:r>
              <a:rPr lang="en-US" sz="2000" b="1" dirty="0">
                <a:solidFill>
                  <a:srgbClr val="FF0000"/>
                </a:solidFill>
              </a:rPr>
              <a:t>Types of constructors in Python</a:t>
            </a:r>
          </a:p>
          <a:p>
            <a:pPr marL="0" indent="0">
              <a:buNone/>
            </a:pPr>
            <a:r>
              <a:rPr lang="en-US" dirty="0"/>
              <a:t>We have two types of constructors in Python.</a:t>
            </a:r>
          </a:p>
          <a:p>
            <a:pPr marL="0" indent="0">
              <a:buNone/>
            </a:pPr>
            <a:br>
              <a:rPr lang="en-US" dirty="0"/>
            </a:br>
            <a:r>
              <a:rPr lang="en-US" dirty="0"/>
              <a:t>1. </a:t>
            </a:r>
            <a:r>
              <a:rPr lang="en-US" dirty="0">
                <a:solidFill>
                  <a:schemeClr val="accent1">
                    <a:lumMod val="75000"/>
                  </a:schemeClr>
                </a:solidFill>
              </a:rPr>
              <a:t>default constructor </a:t>
            </a:r>
            <a:r>
              <a:rPr lang="en-US" dirty="0"/>
              <a:t>–  This constructor doesn’t accept any arguments.</a:t>
            </a:r>
          </a:p>
          <a:p>
            <a:pPr marL="0" indent="0">
              <a:buNone/>
            </a:pPr>
            <a:br>
              <a:rPr lang="en-US" dirty="0"/>
            </a:br>
            <a:r>
              <a:rPr lang="en-US" dirty="0"/>
              <a:t>2. </a:t>
            </a:r>
            <a:r>
              <a:rPr lang="en-US" dirty="0">
                <a:solidFill>
                  <a:schemeClr val="accent1">
                    <a:lumMod val="75000"/>
                  </a:schemeClr>
                </a:solidFill>
              </a:rPr>
              <a:t>parameterized constructor </a:t>
            </a:r>
            <a:r>
              <a:rPr lang="en-US" dirty="0"/>
              <a:t>– constructor with parameters is known as parameterized constructor</a:t>
            </a:r>
            <a:r>
              <a:rPr lang="en-US" sz="1600" dirty="0"/>
              <a:t>.</a:t>
            </a:r>
          </a:p>
          <a:p>
            <a:pPr marL="0" indent="0">
              <a:buNone/>
            </a:pPr>
            <a:endParaRPr lang="en-US" dirty="0"/>
          </a:p>
        </p:txBody>
      </p:sp>
      <p:sp>
        <p:nvSpPr>
          <p:cNvPr id="5" name="Rectangle 4"/>
          <p:cNvSpPr/>
          <p:nvPr/>
        </p:nvSpPr>
        <p:spPr>
          <a:xfrm>
            <a:off x="2108886" y="6211669"/>
            <a:ext cx="6096000" cy="107722"/>
          </a:xfrm>
          <a:prstGeom prst="rect">
            <a:avLst/>
          </a:prstGeom>
        </p:spPr>
        <p:txBody>
          <a:bodyPr>
            <a:spAutoFit/>
          </a:bodyPr>
          <a:lstStyle/>
          <a:p>
            <a:r>
              <a:rPr lang="en-US" sz="100" dirty="0"/>
              <a:t>https://beginnersbook.com/2018/03/python-constructors-default-and-parameterized/</a:t>
            </a:r>
          </a:p>
        </p:txBody>
      </p:sp>
    </p:spTree>
    <p:extLst>
      <p:ext uri="{BB962C8B-B14F-4D97-AF65-F5344CB8AC3E}">
        <p14:creationId xmlns:p14="http://schemas.microsoft.com/office/powerpoint/2010/main" val="3278812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3081" y="83457"/>
            <a:ext cx="6096000" cy="369332"/>
          </a:xfrm>
          <a:prstGeom prst="rect">
            <a:avLst/>
          </a:prstGeom>
        </p:spPr>
        <p:txBody>
          <a:bodyPr>
            <a:spAutoFit/>
          </a:bodyPr>
          <a:lstStyle/>
          <a:p>
            <a:r>
              <a:rPr lang="en-US" dirty="0"/>
              <a:t> </a:t>
            </a:r>
          </a:p>
        </p:txBody>
      </p:sp>
      <p:sp>
        <p:nvSpPr>
          <p:cNvPr id="5" name="Rectangle 4"/>
          <p:cNvSpPr/>
          <p:nvPr/>
        </p:nvSpPr>
        <p:spPr>
          <a:xfrm>
            <a:off x="284206" y="109996"/>
            <a:ext cx="2874505" cy="400110"/>
          </a:xfrm>
          <a:prstGeom prst="rect">
            <a:avLst/>
          </a:prstGeom>
        </p:spPr>
        <p:txBody>
          <a:bodyPr wrap="none">
            <a:spAutoFit/>
          </a:bodyPr>
          <a:lstStyle/>
          <a:p>
            <a:r>
              <a:rPr lang="en-US" sz="2000" dirty="0">
                <a:solidFill>
                  <a:srgbClr val="FF0000"/>
                </a:solidFill>
              </a:rPr>
              <a:t>The __</a:t>
            </a:r>
            <a:r>
              <a:rPr lang="en-US" sz="2000" dirty="0" err="1">
                <a:solidFill>
                  <a:srgbClr val="FF0000"/>
                </a:solidFill>
              </a:rPr>
              <a:t>init</a:t>
            </a:r>
            <a:r>
              <a:rPr lang="en-US" sz="2000" dirty="0">
                <a:solidFill>
                  <a:srgbClr val="FF0000"/>
                </a:solidFill>
              </a:rPr>
              <a:t>__() Function</a:t>
            </a:r>
          </a:p>
        </p:txBody>
      </p:sp>
      <p:sp>
        <p:nvSpPr>
          <p:cNvPr id="6" name="Rectangle 5"/>
          <p:cNvSpPr/>
          <p:nvPr/>
        </p:nvSpPr>
        <p:spPr>
          <a:xfrm>
            <a:off x="0" y="619663"/>
            <a:ext cx="10272586" cy="1723549"/>
          </a:xfrm>
          <a:prstGeom prst="rect">
            <a:avLst/>
          </a:prstGeom>
        </p:spPr>
        <p:txBody>
          <a:bodyPr wrap="square">
            <a:spAutoFit/>
          </a:bodyPr>
          <a:lstStyle/>
          <a:p>
            <a:r>
              <a:rPr lang="en-US" dirty="0"/>
              <a:t>All classes have a function called __</a:t>
            </a:r>
            <a:r>
              <a:rPr lang="en-US" dirty="0" err="1"/>
              <a:t>init</a:t>
            </a:r>
            <a:r>
              <a:rPr lang="en-US" dirty="0"/>
              <a:t>__(), which is always executed when the class is being initiated.</a:t>
            </a:r>
          </a:p>
          <a:p>
            <a:r>
              <a:rPr lang="en-US" dirty="0"/>
              <a:t>Use the </a:t>
            </a:r>
            <a:r>
              <a:rPr lang="en-US" dirty="0">
                <a:solidFill>
                  <a:srgbClr val="FF0000"/>
                </a:solidFill>
              </a:rPr>
              <a:t>__</a:t>
            </a:r>
            <a:r>
              <a:rPr lang="en-US" dirty="0" err="1">
                <a:solidFill>
                  <a:srgbClr val="FF0000"/>
                </a:solidFill>
              </a:rPr>
              <a:t>init</a:t>
            </a:r>
            <a:r>
              <a:rPr lang="en-US" dirty="0">
                <a:solidFill>
                  <a:srgbClr val="FF0000"/>
                </a:solidFill>
              </a:rPr>
              <a:t>__() function </a:t>
            </a:r>
            <a:r>
              <a:rPr lang="en-US" dirty="0"/>
              <a:t>to assign values to object properties, or other operations </a:t>
            </a:r>
          </a:p>
          <a:p>
            <a:endParaRPr lang="en-US" sz="2000" dirty="0"/>
          </a:p>
          <a:p>
            <a:r>
              <a:rPr lang="en-US" sz="1600" b="1" dirty="0">
                <a:solidFill>
                  <a:schemeClr val="accent6">
                    <a:lumMod val="75000"/>
                  </a:schemeClr>
                </a:solidFill>
              </a:rPr>
              <a:t>Note:</a:t>
            </a:r>
            <a:r>
              <a:rPr lang="en-US" sz="1600" dirty="0">
                <a:solidFill>
                  <a:schemeClr val="accent6">
                    <a:lumMod val="75000"/>
                  </a:schemeClr>
                </a:solidFill>
              </a:rPr>
              <a:t> The __</a:t>
            </a:r>
            <a:r>
              <a:rPr lang="en-US" sz="1600" dirty="0" err="1">
                <a:solidFill>
                  <a:schemeClr val="accent6">
                    <a:lumMod val="75000"/>
                  </a:schemeClr>
                </a:solidFill>
              </a:rPr>
              <a:t>init</a:t>
            </a:r>
            <a:r>
              <a:rPr lang="en-US" sz="1600" dirty="0">
                <a:solidFill>
                  <a:schemeClr val="accent6">
                    <a:lumMod val="75000"/>
                  </a:schemeClr>
                </a:solidFill>
              </a:rPr>
              <a:t>__() function is called automatically every time the class is being used to create a new object.</a:t>
            </a:r>
          </a:p>
        </p:txBody>
      </p:sp>
      <p:sp>
        <p:nvSpPr>
          <p:cNvPr id="2" name="Rectangle 1"/>
          <p:cNvSpPr/>
          <p:nvPr/>
        </p:nvSpPr>
        <p:spPr>
          <a:xfrm>
            <a:off x="770896" y="2221015"/>
            <a:ext cx="253596" cy="369332"/>
          </a:xfrm>
          <a:prstGeom prst="rect">
            <a:avLst/>
          </a:prstGeom>
        </p:spPr>
        <p:txBody>
          <a:bodyPr wrap="none">
            <a:spAutoFit/>
          </a:bodyPr>
          <a:lstStyle/>
          <a:p>
            <a:r>
              <a:rPr lang="en-US" b="1" dirty="0"/>
              <a:t> </a:t>
            </a:r>
            <a:endParaRPr lang="en-US" dirty="0"/>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206" y="2590347"/>
            <a:ext cx="5124450"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317" y="4694175"/>
            <a:ext cx="4969976" cy="53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65366" y="2405681"/>
            <a:ext cx="500062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8"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9970" y="5154818"/>
            <a:ext cx="4764432" cy="637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3323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98" y="0"/>
            <a:ext cx="9274002" cy="1320800"/>
          </a:xfrm>
        </p:spPr>
        <p:txBody>
          <a:bodyPr>
            <a:normAutofit/>
          </a:bodyPr>
          <a:lstStyle/>
          <a:p>
            <a:r>
              <a:rPr lang="en-US" sz="2800" b="1" dirty="0"/>
              <a:t>Python – Parameterized constructor  </a:t>
            </a:r>
            <a:endParaRPr lang="en-US" sz="2800" dirty="0"/>
          </a:p>
        </p:txBody>
      </p:sp>
      <p:sp>
        <p:nvSpPr>
          <p:cNvPr id="3" name="Content Placeholder 2"/>
          <p:cNvSpPr>
            <a:spLocks noGrp="1"/>
          </p:cNvSpPr>
          <p:nvPr>
            <p:ph idx="1"/>
          </p:nvPr>
        </p:nvSpPr>
        <p:spPr>
          <a:xfrm>
            <a:off x="234778" y="531340"/>
            <a:ext cx="8940370" cy="4385557"/>
          </a:xfrm>
        </p:spPr>
        <p:txBody>
          <a:bodyPr/>
          <a:lstStyle/>
          <a:p>
            <a:pPr>
              <a:buFont typeface="Wingdings" pitchFamily="2" charset="2"/>
              <a:buChar char="q"/>
            </a:pPr>
            <a:r>
              <a:rPr lang="en-US" dirty="0"/>
              <a:t>accepts the arguments during object creation then such type of constructors are known as Parameterized constructors.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183" y="1222024"/>
            <a:ext cx="5360774" cy="4286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183" y="5485315"/>
            <a:ext cx="5575472" cy="1372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1957" y="6187596"/>
            <a:ext cx="5080043" cy="670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5533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F1C201-293E-0948-4999-336AD8367D7D}"/>
              </a:ext>
            </a:extLst>
          </p:cNvPr>
          <p:cNvSpPr txBox="1"/>
          <p:nvPr/>
        </p:nvSpPr>
        <p:spPr>
          <a:xfrm>
            <a:off x="537327" y="105547"/>
            <a:ext cx="8401638" cy="5632311"/>
          </a:xfrm>
          <a:prstGeom prst="rect">
            <a:avLst/>
          </a:prstGeom>
          <a:noFill/>
        </p:spPr>
        <p:txBody>
          <a:bodyPr wrap="square">
            <a:spAutoFit/>
          </a:bodyPr>
          <a:lstStyle/>
          <a:p>
            <a:pPr rtl="0">
              <a:buNone/>
            </a:pPr>
            <a:r>
              <a:rPr lang="en-US" sz="2400" dirty="0"/>
              <a:t>class Employee:</a:t>
            </a:r>
            <a:br>
              <a:rPr lang="en-US" sz="2400" dirty="0"/>
            </a:br>
            <a:r>
              <a:rPr lang="en-US" sz="2400" dirty="0"/>
              <a:t>def __</a:t>
            </a:r>
            <a:r>
              <a:rPr lang="en-US" sz="2400" dirty="0" err="1"/>
              <a:t>init</a:t>
            </a:r>
            <a:r>
              <a:rPr lang="en-US" sz="2400" dirty="0"/>
              <a:t>__(self, name, age, salary, gender):</a:t>
            </a:r>
            <a:br>
              <a:rPr lang="en-US" sz="2400" dirty="0"/>
            </a:br>
            <a:r>
              <a:rPr lang="en-US" sz="2400" dirty="0"/>
              <a:t>	self.name = name</a:t>
            </a:r>
            <a:br>
              <a:rPr lang="en-US" sz="2400" dirty="0"/>
            </a:br>
            <a:r>
              <a:rPr lang="en-US" sz="2400" dirty="0"/>
              <a:t>	</a:t>
            </a:r>
            <a:r>
              <a:rPr lang="en-US" sz="2400" dirty="0" err="1"/>
              <a:t>self.age</a:t>
            </a:r>
            <a:r>
              <a:rPr lang="en-US" sz="2400" dirty="0"/>
              <a:t> = age</a:t>
            </a:r>
            <a:br>
              <a:rPr lang="en-US" sz="2400" dirty="0"/>
            </a:br>
            <a:r>
              <a:rPr lang="en-US" sz="2400" dirty="0"/>
              <a:t>	</a:t>
            </a:r>
            <a:r>
              <a:rPr lang="en-US" sz="2400" dirty="0" err="1"/>
              <a:t>self.salary</a:t>
            </a:r>
            <a:r>
              <a:rPr lang="en-US" sz="2400" dirty="0"/>
              <a:t> = salary</a:t>
            </a:r>
            <a:br>
              <a:rPr lang="en-US" sz="2400" dirty="0"/>
            </a:br>
            <a:r>
              <a:rPr lang="en-US" sz="2400" dirty="0"/>
              <a:t>	</a:t>
            </a:r>
            <a:r>
              <a:rPr lang="en-US" sz="2400" dirty="0" err="1"/>
              <a:t>self.gender</a:t>
            </a:r>
            <a:r>
              <a:rPr lang="en-US" sz="2400" dirty="0"/>
              <a:t> = gender</a:t>
            </a:r>
            <a:br>
              <a:rPr lang="en-US" sz="2400" dirty="0"/>
            </a:br>
            <a:br>
              <a:rPr lang="en-US" sz="2400" dirty="0"/>
            </a:br>
            <a:r>
              <a:rPr lang="en-US" sz="2400" dirty="0"/>
              <a:t>def </a:t>
            </a:r>
            <a:r>
              <a:rPr lang="en-US" sz="2400" dirty="0" err="1"/>
              <a:t>employee_details</a:t>
            </a:r>
            <a:r>
              <a:rPr lang="en-US" sz="2400" dirty="0"/>
              <a:t>(self):</a:t>
            </a:r>
            <a:br>
              <a:rPr lang="en-US" sz="2400" dirty="0"/>
            </a:br>
            <a:r>
              <a:rPr lang="en-US" sz="2400" dirty="0"/>
              <a:t>	print("Name of employee is :", self.name)</a:t>
            </a:r>
            <a:br>
              <a:rPr lang="en-US" sz="2400" dirty="0"/>
            </a:br>
            <a:r>
              <a:rPr lang="en-US" sz="2400" dirty="0"/>
              <a:t>	print("Age of employee is :", </a:t>
            </a:r>
            <a:r>
              <a:rPr lang="en-US" sz="2400" dirty="0" err="1"/>
              <a:t>self.age</a:t>
            </a:r>
            <a:r>
              <a:rPr lang="en-US" sz="2400" dirty="0"/>
              <a:t>)</a:t>
            </a:r>
            <a:br>
              <a:rPr lang="en-US" sz="2400" dirty="0"/>
            </a:br>
            <a:r>
              <a:rPr lang="en-US" sz="2400" dirty="0"/>
              <a:t>	print("Salary of employee is :", </a:t>
            </a:r>
            <a:r>
              <a:rPr lang="en-US" sz="2400" dirty="0" err="1"/>
              <a:t>self.salary</a:t>
            </a:r>
            <a:r>
              <a:rPr lang="en-US" sz="2400" dirty="0"/>
              <a:t>)</a:t>
            </a:r>
            <a:br>
              <a:rPr lang="en-US" sz="2400" dirty="0"/>
            </a:br>
            <a:r>
              <a:rPr lang="en-US" sz="2400" dirty="0"/>
              <a:t>	print("Gender of employee is :", </a:t>
            </a:r>
            <a:r>
              <a:rPr lang="en-US" sz="2400" dirty="0" err="1"/>
              <a:t>self.gender</a:t>
            </a:r>
            <a:r>
              <a:rPr lang="en-US" sz="2400" dirty="0"/>
              <a:t>)</a:t>
            </a:r>
            <a:br>
              <a:rPr lang="en-US" sz="2400" dirty="0"/>
            </a:br>
            <a:br>
              <a:rPr lang="en-US" sz="2400" dirty="0"/>
            </a:br>
            <a:r>
              <a:rPr lang="en-US" sz="2400" dirty="0"/>
              <a:t>emp = Employee("Raja", 45, 20000, "Male")</a:t>
            </a:r>
            <a:br>
              <a:rPr lang="en-US" sz="2400" dirty="0"/>
            </a:br>
            <a:r>
              <a:rPr lang="en-US" sz="2400" dirty="0" err="1"/>
              <a:t>emp.employee_details</a:t>
            </a:r>
            <a:r>
              <a:rPr lang="en-US" sz="2400" dirty="0"/>
              <a:t>()</a:t>
            </a:r>
          </a:p>
        </p:txBody>
      </p:sp>
      <p:pic>
        <p:nvPicPr>
          <p:cNvPr id="7" name="Picture 6">
            <a:extLst>
              <a:ext uri="{FF2B5EF4-FFF2-40B4-BE49-F238E27FC236}">
                <a16:creationId xmlns:a16="http://schemas.microsoft.com/office/drawing/2014/main" id="{F24ED057-F154-DEAD-E1FC-83D45BAAC3B3}"/>
              </a:ext>
            </a:extLst>
          </p:cNvPr>
          <p:cNvPicPr>
            <a:picLocks noChangeAspect="1"/>
          </p:cNvPicPr>
          <p:nvPr/>
        </p:nvPicPr>
        <p:blipFill>
          <a:blip r:embed="rId2"/>
          <a:stretch>
            <a:fillRect/>
          </a:stretch>
        </p:blipFill>
        <p:spPr>
          <a:xfrm>
            <a:off x="4100660" y="5609367"/>
            <a:ext cx="8091340" cy="1248633"/>
          </a:xfrm>
          <a:prstGeom prst="rect">
            <a:avLst/>
          </a:prstGeom>
        </p:spPr>
      </p:pic>
    </p:spTree>
    <p:extLst>
      <p:ext uri="{BB962C8B-B14F-4D97-AF65-F5344CB8AC3E}">
        <p14:creationId xmlns:p14="http://schemas.microsoft.com/office/powerpoint/2010/main" val="4272073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A9D54-769B-8084-FB0B-9F49D0750710}"/>
              </a:ext>
            </a:extLst>
          </p:cNvPr>
          <p:cNvSpPr>
            <a:spLocks noGrp="1"/>
          </p:cNvSpPr>
          <p:nvPr>
            <p:ph type="title"/>
          </p:nvPr>
        </p:nvSpPr>
        <p:spPr>
          <a:xfrm>
            <a:off x="157873" y="364503"/>
            <a:ext cx="9635590" cy="1320800"/>
          </a:xfrm>
        </p:spPr>
        <p:txBody>
          <a:bodyPr>
            <a:normAutofit/>
          </a:bodyPr>
          <a:lstStyle/>
          <a:p>
            <a:r>
              <a:rPr lang="en-IN" sz="2800" dirty="0"/>
              <a:t>Problem Statement: Student Details Management System</a:t>
            </a:r>
          </a:p>
        </p:txBody>
      </p:sp>
      <p:sp>
        <p:nvSpPr>
          <p:cNvPr id="3" name="Content Placeholder 2">
            <a:extLst>
              <a:ext uri="{FF2B5EF4-FFF2-40B4-BE49-F238E27FC236}">
                <a16:creationId xmlns:a16="http://schemas.microsoft.com/office/drawing/2014/main" id="{5A436B99-BFB4-44A4-8A3F-8C1D1AB6959D}"/>
              </a:ext>
            </a:extLst>
          </p:cNvPr>
          <p:cNvSpPr>
            <a:spLocks noGrp="1"/>
          </p:cNvSpPr>
          <p:nvPr>
            <p:ph idx="1"/>
          </p:nvPr>
        </p:nvSpPr>
        <p:spPr>
          <a:xfrm>
            <a:off x="677334" y="1338606"/>
            <a:ext cx="9635590" cy="5250729"/>
          </a:xfrm>
        </p:spPr>
        <p:txBody>
          <a:bodyPr>
            <a:normAutofit/>
          </a:bodyPr>
          <a:lstStyle/>
          <a:p>
            <a:pPr marL="0" indent="0">
              <a:buNone/>
            </a:pPr>
            <a:r>
              <a:rPr lang="en-US" b="1" dirty="0"/>
              <a:t>Objective:</a:t>
            </a:r>
            <a:br>
              <a:rPr lang="en-US" dirty="0"/>
            </a:br>
            <a:r>
              <a:rPr lang="en-US" dirty="0"/>
              <a:t>Write a Python program using </a:t>
            </a:r>
            <a:r>
              <a:rPr lang="en-US" b="1" dirty="0"/>
              <a:t>Class and Object</a:t>
            </a:r>
            <a:r>
              <a:rPr lang="en-US" dirty="0"/>
              <a:t> to create and display student details.</a:t>
            </a:r>
          </a:p>
          <a:p>
            <a:pPr marL="0" indent="0">
              <a:buNone/>
            </a:pPr>
            <a:r>
              <a:rPr lang="en-US" b="1" dirty="0">
                <a:solidFill>
                  <a:srgbClr val="FF0000"/>
                </a:solidFill>
              </a:rPr>
              <a:t>Parameterized Constructor</a:t>
            </a:r>
          </a:p>
          <a:p>
            <a:pPr marL="0" indent="0">
              <a:buNone/>
            </a:pPr>
            <a:r>
              <a:rPr lang="en-US" b="1" dirty="0"/>
              <a:t>Requirements</a:t>
            </a:r>
          </a:p>
          <a:p>
            <a:pPr marL="0" indent="0">
              <a:buNone/>
            </a:pPr>
            <a:r>
              <a:rPr lang="en-US" dirty="0"/>
              <a:t>Create a class named </a:t>
            </a:r>
            <a:r>
              <a:rPr lang="en-US" b="1" dirty="0"/>
              <a:t>Student</a:t>
            </a:r>
            <a:r>
              <a:rPr lang="en-US" dirty="0"/>
              <a:t> with the following attributes:</a:t>
            </a:r>
          </a:p>
          <a:p>
            <a:pPr marL="0" indent="0">
              <a:buNone/>
            </a:pPr>
            <a:r>
              <a:rPr lang="en-US" b="1" dirty="0"/>
              <a:t>name </a:t>
            </a:r>
          </a:p>
          <a:p>
            <a:pPr marL="0" indent="0">
              <a:buNone/>
            </a:pPr>
            <a:r>
              <a:rPr lang="en-US" b="1" dirty="0"/>
              <a:t>age </a:t>
            </a:r>
          </a:p>
          <a:p>
            <a:pPr marL="0" indent="0">
              <a:buNone/>
            </a:pPr>
            <a:r>
              <a:rPr lang="en-US" b="1" dirty="0"/>
              <a:t>marks </a:t>
            </a:r>
          </a:p>
          <a:p>
            <a:pPr marL="0" indent="0">
              <a:buNone/>
            </a:pPr>
            <a:r>
              <a:rPr lang="en-US" dirty="0"/>
              <a:t>The class should contain:</a:t>
            </a:r>
          </a:p>
          <a:p>
            <a:pPr>
              <a:buFont typeface="Wingdings" panose="05000000000000000000" pitchFamily="2" charset="2"/>
              <a:buChar char="v"/>
            </a:pPr>
            <a:r>
              <a:rPr lang="en-US" dirty="0"/>
              <a:t>A __</a:t>
            </a:r>
            <a:r>
              <a:rPr lang="en-US" dirty="0" err="1"/>
              <a:t>init</a:t>
            </a:r>
            <a:r>
              <a:rPr lang="en-US" dirty="0"/>
              <a:t>__() constructor to initialize student details. </a:t>
            </a:r>
          </a:p>
          <a:p>
            <a:pPr>
              <a:buFont typeface="Wingdings" panose="05000000000000000000" pitchFamily="2" charset="2"/>
              <a:buChar char="v"/>
            </a:pPr>
            <a:r>
              <a:rPr lang="en-US" dirty="0"/>
              <a:t>A method </a:t>
            </a:r>
            <a:r>
              <a:rPr lang="en-US" dirty="0" err="1"/>
              <a:t>display_details</a:t>
            </a:r>
            <a:r>
              <a:rPr lang="en-US" dirty="0"/>
              <a:t>() to display the student information. </a:t>
            </a:r>
          </a:p>
          <a:p>
            <a:pPr>
              <a:buFont typeface="Wingdings" panose="05000000000000000000" pitchFamily="2" charset="2"/>
              <a:buChar char="v"/>
            </a:pPr>
            <a:r>
              <a:rPr lang="en-US" dirty="0"/>
              <a:t>Create </a:t>
            </a:r>
            <a:r>
              <a:rPr lang="en-US" b="1" dirty="0"/>
              <a:t>two student objects</a:t>
            </a:r>
            <a:r>
              <a:rPr lang="en-US" dirty="0"/>
              <a:t> and display their details.</a:t>
            </a:r>
          </a:p>
          <a:p>
            <a:endParaRPr lang="en-IN" dirty="0"/>
          </a:p>
        </p:txBody>
      </p:sp>
    </p:spTree>
    <p:extLst>
      <p:ext uri="{BB962C8B-B14F-4D97-AF65-F5344CB8AC3E}">
        <p14:creationId xmlns:p14="http://schemas.microsoft.com/office/powerpoint/2010/main" val="1999316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A54C9B-9FE3-4F0D-BAEF-4E34ED349256}"/>
              </a:ext>
            </a:extLst>
          </p:cNvPr>
          <p:cNvSpPr txBox="1"/>
          <p:nvPr/>
        </p:nvSpPr>
        <p:spPr>
          <a:xfrm>
            <a:off x="810704" y="58846"/>
            <a:ext cx="8307370" cy="6740307"/>
          </a:xfrm>
          <a:prstGeom prst="rect">
            <a:avLst/>
          </a:prstGeom>
          <a:noFill/>
        </p:spPr>
        <p:txBody>
          <a:bodyPr wrap="square">
            <a:spAutoFit/>
          </a:bodyPr>
          <a:lstStyle/>
          <a:p>
            <a:pPr>
              <a:buNone/>
            </a:pPr>
            <a:r>
              <a:rPr lang="en-US" b="1" dirty="0"/>
              <a:t>Sample Input</a:t>
            </a:r>
          </a:p>
          <a:p>
            <a:pPr>
              <a:buNone/>
            </a:pPr>
            <a:endParaRPr lang="en-US" b="1" dirty="0"/>
          </a:p>
          <a:p>
            <a:pPr lvl="1"/>
            <a:r>
              <a:rPr lang="en-US" b="1" dirty="0">
                <a:latin typeface="Courier New" panose="02070309020205020404" pitchFamily="49" charset="0"/>
              </a:rPr>
              <a:t>Student 1:</a:t>
            </a:r>
          </a:p>
          <a:p>
            <a:pPr lvl="1"/>
            <a:r>
              <a:rPr lang="en-US" b="1" dirty="0">
                <a:latin typeface="Courier New" panose="02070309020205020404" pitchFamily="49" charset="0"/>
              </a:rPr>
              <a:t>Name: Jaya</a:t>
            </a:r>
          </a:p>
          <a:p>
            <a:pPr lvl="1"/>
            <a:r>
              <a:rPr lang="en-US" b="1" dirty="0">
                <a:latin typeface="Courier New" panose="02070309020205020404" pitchFamily="49" charset="0"/>
              </a:rPr>
              <a:t>Age: 20</a:t>
            </a:r>
          </a:p>
          <a:p>
            <a:pPr lvl="1"/>
            <a:r>
              <a:rPr lang="en-US" b="1" dirty="0">
                <a:latin typeface="Courier New" panose="02070309020205020404" pitchFamily="49" charset="0"/>
              </a:rPr>
              <a:t>Marks: 85.5</a:t>
            </a:r>
          </a:p>
          <a:p>
            <a:pPr lvl="1"/>
            <a:endParaRPr lang="en-US" b="1" dirty="0">
              <a:latin typeface="Courier New" panose="02070309020205020404" pitchFamily="49" charset="0"/>
            </a:endParaRPr>
          </a:p>
          <a:p>
            <a:pPr lvl="1"/>
            <a:r>
              <a:rPr lang="en-US" b="1" dirty="0">
                <a:latin typeface="Courier New" panose="02070309020205020404" pitchFamily="49" charset="0"/>
              </a:rPr>
              <a:t>Student 2:</a:t>
            </a:r>
          </a:p>
          <a:p>
            <a:pPr lvl="1"/>
            <a:r>
              <a:rPr lang="en-US" b="1" dirty="0">
                <a:latin typeface="Courier New" panose="02070309020205020404" pitchFamily="49" charset="0"/>
              </a:rPr>
              <a:t>Name: Kavin</a:t>
            </a:r>
          </a:p>
          <a:p>
            <a:pPr lvl="1"/>
            <a:r>
              <a:rPr lang="en-US" b="1" dirty="0">
                <a:latin typeface="Courier New" panose="02070309020205020404" pitchFamily="49" charset="0"/>
              </a:rPr>
              <a:t>Age: 21</a:t>
            </a:r>
          </a:p>
          <a:p>
            <a:pPr lvl="1"/>
            <a:r>
              <a:rPr lang="en-US" b="1" dirty="0">
                <a:latin typeface="Courier New" panose="02070309020205020404" pitchFamily="49" charset="0"/>
              </a:rPr>
              <a:t>Marks: 90.0</a:t>
            </a:r>
          </a:p>
          <a:p>
            <a:pPr lvl="1"/>
            <a:endParaRPr lang="en-US" b="1" dirty="0">
              <a:latin typeface="Courier New" panose="02070309020205020404" pitchFamily="49" charset="0"/>
            </a:endParaRPr>
          </a:p>
          <a:p>
            <a:pPr>
              <a:buNone/>
            </a:pPr>
            <a:r>
              <a:rPr lang="en-US" b="1" dirty="0"/>
              <a:t>Sample Output</a:t>
            </a:r>
          </a:p>
          <a:p>
            <a:pPr lvl="1"/>
            <a:r>
              <a:rPr lang="en-US" b="1" dirty="0">
                <a:latin typeface="Courier New" panose="02070309020205020404" pitchFamily="49" charset="0"/>
              </a:rPr>
              <a:t>Student Details</a:t>
            </a:r>
          </a:p>
          <a:p>
            <a:pPr lvl="1"/>
            <a:r>
              <a:rPr lang="en-US" b="1" dirty="0">
                <a:latin typeface="Courier New" panose="02070309020205020404" pitchFamily="49" charset="0"/>
              </a:rPr>
              <a:t>---------------</a:t>
            </a:r>
          </a:p>
          <a:p>
            <a:pPr lvl="1"/>
            <a:r>
              <a:rPr lang="en-US" b="1" dirty="0">
                <a:latin typeface="Courier New" panose="02070309020205020404" pitchFamily="49" charset="0"/>
              </a:rPr>
              <a:t>Name: Jaya</a:t>
            </a:r>
          </a:p>
          <a:p>
            <a:pPr lvl="1"/>
            <a:r>
              <a:rPr lang="en-US" b="1" dirty="0">
                <a:latin typeface="Courier New" panose="02070309020205020404" pitchFamily="49" charset="0"/>
              </a:rPr>
              <a:t>Age: 20</a:t>
            </a:r>
          </a:p>
          <a:p>
            <a:pPr lvl="1"/>
            <a:r>
              <a:rPr lang="en-US" b="1" dirty="0">
                <a:latin typeface="Courier New" panose="02070309020205020404" pitchFamily="49" charset="0"/>
              </a:rPr>
              <a:t>Marks: 85.5</a:t>
            </a:r>
          </a:p>
          <a:p>
            <a:pPr lvl="1"/>
            <a:endParaRPr lang="en-US" b="1" dirty="0">
              <a:latin typeface="Courier New" panose="02070309020205020404" pitchFamily="49" charset="0"/>
            </a:endParaRPr>
          </a:p>
          <a:p>
            <a:pPr lvl="1"/>
            <a:r>
              <a:rPr lang="en-US" b="1" dirty="0">
                <a:latin typeface="Courier New" panose="02070309020205020404" pitchFamily="49" charset="0"/>
              </a:rPr>
              <a:t>Student Details</a:t>
            </a:r>
          </a:p>
          <a:p>
            <a:pPr lvl="1"/>
            <a:r>
              <a:rPr lang="en-US" b="1" dirty="0">
                <a:latin typeface="Courier New" panose="02070309020205020404" pitchFamily="49" charset="0"/>
              </a:rPr>
              <a:t>---------------</a:t>
            </a:r>
          </a:p>
          <a:p>
            <a:pPr lvl="1"/>
            <a:r>
              <a:rPr lang="en-US" b="1" dirty="0">
                <a:latin typeface="Courier New" panose="02070309020205020404" pitchFamily="49" charset="0"/>
              </a:rPr>
              <a:t>Name: Kavin</a:t>
            </a:r>
          </a:p>
          <a:p>
            <a:pPr lvl="1"/>
            <a:r>
              <a:rPr lang="en-US" b="1" dirty="0">
                <a:latin typeface="Courier New" panose="02070309020205020404" pitchFamily="49" charset="0"/>
              </a:rPr>
              <a:t>Age: 21</a:t>
            </a:r>
          </a:p>
          <a:p>
            <a:pPr lvl="1"/>
            <a:r>
              <a:rPr lang="en-US" b="1" dirty="0">
                <a:latin typeface="Courier New" panose="02070309020205020404" pitchFamily="49" charset="0"/>
              </a:rPr>
              <a:t>Marks: 90.0</a:t>
            </a:r>
          </a:p>
        </p:txBody>
      </p:sp>
    </p:spTree>
    <p:extLst>
      <p:ext uri="{BB962C8B-B14F-4D97-AF65-F5344CB8AC3E}">
        <p14:creationId xmlns:p14="http://schemas.microsoft.com/office/powerpoint/2010/main" val="2416740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F282875-657C-D5DD-DF88-C4789C8D0B68}"/>
              </a:ext>
            </a:extLst>
          </p:cNvPr>
          <p:cNvGraphicFramePr>
            <a:graphicFrameLocks noGrp="1"/>
          </p:cNvGraphicFramePr>
          <p:nvPr>
            <p:extLst>
              <p:ext uri="{D42A27DB-BD31-4B8C-83A1-F6EECF244321}">
                <p14:modId xmlns:p14="http://schemas.microsoft.com/office/powerpoint/2010/main" val="10726304"/>
              </p:ext>
            </p:extLst>
          </p:nvPr>
        </p:nvGraphicFramePr>
        <p:xfrm>
          <a:off x="668436" y="1465571"/>
          <a:ext cx="8596312" cy="3291840"/>
        </p:xfrm>
        <a:graphic>
          <a:graphicData uri="http://schemas.openxmlformats.org/drawingml/2006/table">
            <a:tbl>
              <a:tblPr/>
              <a:tblGrid>
                <a:gridCol w="4298156">
                  <a:extLst>
                    <a:ext uri="{9D8B030D-6E8A-4147-A177-3AD203B41FA5}">
                      <a16:colId xmlns:a16="http://schemas.microsoft.com/office/drawing/2014/main" val="3374263054"/>
                    </a:ext>
                  </a:extLst>
                </a:gridCol>
                <a:gridCol w="4298156">
                  <a:extLst>
                    <a:ext uri="{9D8B030D-6E8A-4147-A177-3AD203B41FA5}">
                      <a16:colId xmlns:a16="http://schemas.microsoft.com/office/drawing/2014/main" val="718657473"/>
                    </a:ext>
                  </a:extLst>
                </a:gridCol>
              </a:tblGrid>
              <a:tr h="0">
                <a:tc>
                  <a:txBody>
                    <a:bodyPr/>
                    <a:lstStyle/>
                    <a:p>
                      <a:pPr algn="ctr">
                        <a:buNone/>
                      </a:pPr>
                      <a:r>
                        <a:rPr lang="en-IN"/>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2123970"/>
                  </a:ext>
                </a:extLst>
              </a:tr>
              <a:tr h="0">
                <a:tc>
                  <a:txBody>
                    <a:bodyPr/>
                    <a:lstStyle/>
                    <a:p>
                      <a:pPr>
                        <a:buNone/>
                      </a:pPr>
                      <a:r>
                        <a:rPr lang="en-IN" b="1">
                          <a:solidFill>
                            <a:srgbClr val="C00000"/>
                          </a:solidFill>
                          <a:latin typeface="Courier New" panose="02070309020205020404" pitchFamily="49" charset="0"/>
                        </a:rPr>
                        <a:t>class</a:t>
                      </a:r>
                      <a:endParaRPr lang="en-IN" b="1">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Creates a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0071273"/>
                  </a:ext>
                </a:extLst>
              </a:tr>
              <a:tr h="0">
                <a:tc>
                  <a:txBody>
                    <a:bodyPr/>
                    <a:lstStyle/>
                    <a:p>
                      <a:pPr>
                        <a:buNone/>
                      </a:pPr>
                      <a:r>
                        <a:rPr lang="en-IN" b="1">
                          <a:solidFill>
                            <a:srgbClr val="C00000"/>
                          </a:solidFill>
                          <a:latin typeface="Courier New" panose="02070309020205020404" pitchFamily="49" charset="0"/>
                        </a:rPr>
                        <a:t>Student</a:t>
                      </a:r>
                      <a:endParaRPr lang="en-IN" b="1">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Class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424310"/>
                  </a:ext>
                </a:extLst>
              </a:tr>
              <a:tr h="0">
                <a:tc>
                  <a:txBody>
                    <a:bodyPr/>
                    <a:lstStyle/>
                    <a:p>
                      <a:pPr>
                        <a:buNone/>
                      </a:pPr>
                      <a:r>
                        <a:rPr lang="en-IN" b="1">
                          <a:solidFill>
                            <a:srgbClr val="C00000"/>
                          </a:solidFill>
                          <a:latin typeface="Courier New" panose="02070309020205020404" pitchFamily="49" charset="0"/>
                        </a:rPr>
                        <a:t>__init__()</a:t>
                      </a:r>
                      <a:endParaRPr lang="en-IN" b="1">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Constructor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3808395"/>
                  </a:ext>
                </a:extLst>
              </a:tr>
              <a:tr h="0">
                <a:tc>
                  <a:txBody>
                    <a:bodyPr/>
                    <a:lstStyle/>
                    <a:p>
                      <a:pPr>
                        <a:buNone/>
                      </a:pPr>
                      <a:r>
                        <a:rPr lang="en-IN" b="1">
                          <a:solidFill>
                            <a:srgbClr val="C00000"/>
                          </a:solidFill>
                          <a:latin typeface="Courier New" panose="02070309020205020404" pitchFamily="49" charset="0"/>
                        </a:rPr>
                        <a:t>self</a:t>
                      </a:r>
                      <a:endParaRPr lang="en-IN" b="1">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Refers to the current 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225599"/>
                  </a:ext>
                </a:extLst>
              </a:tr>
              <a:tr h="0">
                <a:tc>
                  <a:txBody>
                    <a:bodyPr/>
                    <a:lstStyle/>
                    <a:p>
                      <a:pPr>
                        <a:buNone/>
                      </a:pPr>
                      <a:r>
                        <a:rPr lang="en-IN" b="1">
                          <a:solidFill>
                            <a:srgbClr val="C00000"/>
                          </a:solidFill>
                          <a:latin typeface="Courier New" panose="02070309020205020404" pitchFamily="49" charset="0"/>
                        </a:rPr>
                        <a:t>name</a:t>
                      </a:r>
                      <a:r>
                        <a:rPr lang="en-IN" b="1">
                          <a:solidFill>
                            <a:srgbClr val="C00000"/>
                          </a:solidFill>
                        </a:rPr>
                        <a:t>, </a:t>
                      </a:r>
                      <a:r>
                        <a:rPr lang="en-IN" b="1">
                          <a:solidFill>
                            <a:srgbClr val="C00000"/>
                          </a:solidFill>
                          <a:latin typeface="Courier New" panose="02070309020205020404" pitchFamily="49" charset="0"/>
                        </a:rPr>
                        <a:t>age</a:t>
                      </a:r>
                      <a:r>
                        <a:rPr lang="en-IN" b="1">
                          <a:solidFill>
                            <a:srgbClr val="C00000"/>
                          </a:solidFill>
                        </a:rPr>
                        <a:t>, </a:t>
                      </a:r>
                      <a:r>
                        <a:rPr lang="en-IN" b="1">
                          <a:solidFill>
                            <a:srgbClr val="C00000"/>
                          </a:solidFill>
                          <a:latin typeface="Courier New" panose="02070309020205020404" pitchFamily="49" charset="0"/>
                        </a:rPr>
                        <a:t>marks</a:t>
                      </a:r>
                      <a:endParaRPr lang="en-IN" b="1">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Attributes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8209130"/>
                  </a:ext>
                </a:extLst>
              </a:tr>
              <a:tr h="0">
                <a:tc>
                  <a:txBody>
                    <a:bodyPr/>
                    <a:lstStyle/>
                    <a:p>
                      <a:pPr>
                        <a:buNone/>
                      </a:pPr>
                      <a:r>
                        <a:rPr lang="en-IN" b="1">
                          <a:solidFill>
                            <a:srgbClr val="C00000"/>
                          </a:solidFill>
                          <a:latin typeface="Courier New" panose="02070309020205020404" pitchFamily="49" charset="0"/>
                        </a:rPr>
                        <a:t>display_details()</a:t>
                      </a:r>
                      <a:endParaRPr lang="en-IN" b="1">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605592"/>
                  </a:ext>
                </a:extLst>
              </a:tr>
              <a:tr h="0">
                <a:tc>
                  <a:txBody>
                    <a:bodyPr/>
                    <a:lstStyle/>
                    <a:p>
                      <a:pPr>
                        <a:buNone/>
                      </a:pPr>
                      <a:r>
                        <a:rPr lang="en-IN" b="1">
                          <a:solidFill>
                            <a:srgbClr val="C00000"/>
                          </a:solidFill>
                          <a:latin typeface="Courier New" panose="02070309020205020404" pitchFamily="49" charset="0"/>
                        </a:rPr>
                        <a:t>student1</a:t>
                      </a:r>
                      <a:endParaRPr lang="en-IN" b="1">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1216923"/>
                  </a:ext>
                </a:extLst>
              </a:tr>
              <a:tr h="0">
                <a:tc>
                  <a:txBody>
                    <a:bodyPr/>
                    <a:lstStyle/>
                    <a:p>
                      <a:pPr>
                        <a:buNone/>
                      </a:pPr>
                      <a:r>
                        <a:rPr lang="en-IN" b="1" dirty="0">
                          <a:solidFill>
                            <a:srgbClr val="C00000"/>
                          </a:solidFill>
                          <a:latin typeface="Courier New" panose="02070309020205020404" pitchFamily="49" charset="0"/>
                        </a:rPr>
                        <a:t>student2</a:t>
                      </a:r>
                      <a:endParaRPr lang="en-IN" b="1"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176682"/>
                  </a:ext>
                </a:extLst>
              </a:tr>
            </a:tbl>
          </a:graphicData>
        </a:graphic>
      </p:graphicFrame>
    </p:spTree>
    <p:extLst>
      <p:ext uri="{BB962C8B-B14F-4D97-AF65-F5344CB8AC3E}">
        <p14:creationId xmlns:p14="http://schemas.microsoft.com/office/powerpoint/2010/main" val="2956113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F0213F-7C32-C49D-EE69-021A367BEF7B}"/>
              </a:ext>
            </a:extLst>
          </p:cNvPr>
          <p:cNvSpPr txBox="1"/>
          <p:nvPr/>
        </p:nvSpPr>
        <p:spPr>
          <a:xfrm>
            <a:off x="678730" y="476701"/>
            <a:ext cx="8477052" cy="5632311"/>
          </a:xfrm>
          <a:prstGeom prst="rect">
            <a:avLst/>
          </a:prstGeom>
          <a:noFill/>
        </p:spPr>
        <p:txBody>
          <a:bodyPr wrap="square">
            <a:spAutoFit/>
          </a:bodyPr>
          <a:lstStyle/>
          <a:p>
            <a:r>
              <a:rPr lang="en-IN" dirty="0"/>
              <a:t>class Student:</a:t>
            </a:r>
          </a:p>
          <a:p>
            <a:r>
              <a:rPr lang="en-IN" dirty="0"/>
              <a:t>    def </a:t>
            </a:r>
            <a:r>
              <a:rPr lang="en-IN" b="1" dirty="0"/>
              <a:t>__</a:t>
            </a:r>
            <a:r>
              <a:rPr lang="en-IN" b="1" dirty="0" err="1"/>
              <a:t>init</a:t>
            </a:r>
            <a:r>
              <a:rPr lang="en-IN" b="1" dirty="0"/>
              <a:t>__</a:t>
            </a:r>
            <a:r>
              <a:rPr lang="en-IN" dirty="0"/>
              <a:t>(self, name, age, marks):</a:t>
            </a:r>
          </a:p>
          <a:p>
            <a:r>
              <a:rPr lang="en-IN" dirty="0"/>
              <a:t>        self.name = name</a:t>
            </a:r>
          </a:p>
          <a:p>
            <a:r>
              <a:rPr lang="en-IN" dirty="0"/>
              <a:t>        </a:t>
            </a:r>
            <a:r>
              <a:rPr lang="en-IN" dirty="0" err="1"/>
              <a:t>self.age</a:t>
            </a:r>
            <a:r>
              <a:rPr lang="en-IN" dirty="0"/>
              <a:t> = age</a:t>
            </a:r>
          </a:p>
          <a:p>
            <a:r>
              <a:rPr lang="en-IN" dirty="0"/>
              <a:t>        </a:t>
            </a:r>
            <a:r>
              <a:rPr lang="en-IN" dirty="0" err="1"/>
              <a:t>self.marks</a:t>
            </a:r>
            <a:r>
              <a:rPr lang="en-IN" dirty="0"/>
              <a:t> = marks</a:t>
            </a:r>
          </a:p>
          <a:p>
            <a:endParaRPr lang="en-IN" dirty="0"/>
          </a:p>
          <a:p>
            <a:r>
              <a:rPr lang="en-IN" dirty="0"/>
              <a:t>    def </a:t>
            </a:r>
            <a:r>
              <a:rPr lang="en-IN" b="1" dirty="0" err="1"/>
              <a:t>display_details</a:t>
            </a:r>
            <a:r>
              <a:rPr lang="en-IN" dirty="0"/>
              <a:t>(self):</a:t>
            </a:r>
          </a:p>
          <a:p>
            <a:r>
              <a:rPr lang="en-IN" dirty="0"/>
              <a:t>        print("Name:", self.name)</a:t>
            </a:r>
          </a:p>
          <a:p>
            <a:r>
              <a:rPr lang="en-IN" dirty="0"/>
              <a:t>        print("Age:", </a:t>
            </a:r>
            <a:r>
              <a:rPr lang="en-IN" dirty="0" err="1"/>
              <a:t>self.age</a:t>
            </a:r>
            <a:r>
              <a:rPr lang="en-IN" dirty="0"/>
              <a:t>)</a:t>
            </a:r>
          </a:p>
          <a:p>
            <a:r>
              <a:rPr lang="en-IN" dirty="0"/>
              <a:t>        print("Marks:", </a:t>
            </a:r>
            <a:r>
              <a:rPr lang="en-IN" dirty="0" err="1"/>
              <a:t>self.marks</a:t>
            </a:r>
            <a:r>
              <a:rPr lang="en-IN" dirty="0"/>
              <a:t>)</a:t>
            </a:r>
          </a:p>
          <a:p>
            <a:endParaRPr lang="en-IN" dirty="0"/>
          </a:p>
          <a:p>
            <a:endParaRPr lang="en-IN" dirty="0"/>
          </a:p>
          <a:p>
            <a:r>
              <a:rPr lang="en-IN" b="1" dirty="0"/>
              <a:t># Creating Objects</a:t>
            </a:r>
          </a:p>
          <a:p>
            <a:r>
              <a:rPr lang="en-IN" dirty="0"/>
              <a:t>student1 = Student("Jaya", 20, 85.5)</a:t>
            </a:r>
          </a:p>
          <a:p>
            <a:r>
              <a:rPr lang="en-IN" dirty="0"/>
              <a:t>student2 = Student("Kavin", 21, 90.0)</a:t>
            </a:r>
          </a:p>
          <a:p>
            <a:endParaRPr lang="en-IN" dirty="0"/>
          </a:p>
          <a:p>
            <a:r>
              <a:rPr lang="en-IN" dirty="0"/>
              <a:t>student1.display_details()</a:t>
            </a:r>
          </a:p>
          <a:p>
            <a:r>
              <a:rPr lang="en-IN" dirty="0"/>
              <a:t>print()</a:t>
            </a:r>
          </a:p>
          <a:p>
            <a:endParaRPr lang="en-IN" dirty="0"/>
          </a:p>
          <a:p>
            <a:r>
              <a:rPr lang="en-IN" dirty="0"/>
              <a:t>student2.display_details()</a:t>
            </a:r>
          </a:p>
        </p:txBody>
      </p:sp>
    </p:spTree>
    <p:extLst>
      <p:ext uri="{BB962C8B-B14F-4D97-AF65-F5344CB8AC3E}">
        <p14:creationId xmlns:p14="http://schemas.microsoft.com/office/powerpoint/2010/main" val="3058680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2624-6C39-11B5-F4A8-F7B01256D7F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223115C-EA92-778C-0406-9A50EB649A4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60548E0-DE97-3085-4656-07C828887F34}"/>
              </a:ext>
            </a:extLst>
          </p:cNvPr>
          <p:cNvPicPr>
            <a:picLocks noChangeAspect="1"/>
          </p:cNvPicPr>
          <p:nvPr/>
        </p:nvPicPr>
        <p:blipFill>
          <a:blip r:embed="rId2"/>
          <a:stretch>
            <a:fillRect/>
          </a:stretch>
        </p:blipFill>
        <p:spPr>
          <a:xfrm>
            <a:off x="1037640" y="346565"/>
            <a:ext cx="9419136" cy="6164870"/>
          </a:xfrm>
          <a:prstGeom prst="rect">
            <a:avLst/>
          </a:prstGeom>
        </p:spPr>
      </p:pic>
    </p:spTree>
    <p:extLst>
      <p:ext uri="{BB962C8B-B14F-4D97-AF65-F5344CB8AC3E}">
        <p14:creationId xmlns:p14="http://schemas.microsoft.com/office/powerpoint/2010/main" val="2415939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3240C-ABD6-501F-500D-21300EB2E003}"/>
              </a:ext>
            </a:extLst>
          </p:cNvPr>
          <p:cNvSpPr>
            <a:spLocks noGrp="1"/>
          </p:cNvSpPr>
          <p:nvPr>
            <p:ph type="title"/>
          </p:nvPr>
        </p:nvSpPr>
        <p:spPr>
          <a:xfrm>
            <a:off x="677333" y="609600"/>
            <a:ext cx="9465907" cy="1320800"/>
          </a:xfrm>
        </p:spPr>
        <p:txBody>
          <a:bodyPr>
            <a:normAutofit/>
          </a:bodyPr>
          <a:lstStyle/>
          <a:p>
            <a:r>
              <a:rPr lang="en-US" sz="2400" dirty="0"/>
              <a:t>Problem Statement: Calculator Using Parameterized Constructor</a:t>
            </a:r>
            <a:endParaRPr lang="en-IN" sz="2400" dirty="0"/>
          </a:p>
        </p:txBody>
      </p:sp>
      <p:sp>
        <p:nvSpPr>
          <p:cNvPr id="5" name="TextBox 4">
            <a:extLst>
              <a:ext uri="{FF2B5EF4-FFF2-40B4-BE49-F238E27FC236}">
                <a16:creationId xmlns:a16="http://schemas.microsoft.com/office/drawing/2014/main" id="{B67E0836-0A64-0134-EA3F-FC61EA6D9016}"/>
              </a:ext>
            </a:extLst>
          </p:cNvPr>
          <p:cNvSpPr txBox="1"/>
          <p:nvPr/>
        </p:nvSpPr>
        <p:spPr>
          <a:xfrm>
            <a:off x="405354" y="1930400"/>
            <a:ext cx="10315672" cy="2862322"/>
          </a:xfrm>
          <a:prstGeom prst="rect">
            <a:avLst/>
          </a:prstGeom>
          <a:noFill/>
        </p:spPr>
        <p:txBody>
          <a:bodyPr wrap="square">
            <a:spAutoFit/>
          </a:bodyPr>
          <a:lstStyle/>
          <a:p>
            <a:pPr>
              <a:buNone/>
            </a:pPr>
            <a:r>
              <a:rPr lang="en-US" dirty="0"/>
              <a:t>Write a Python program to create a </a:t>
            </a:r>
            <a:r>
              <a:rPr lang="en-US" b="1" dirty="0"/>
              <a:t>Calculator class</a:t>
            </a:r>
            <a:r>
              <a:rPr lang="en-US" dirty="0"/>
              <a:t> using a </a:t>
            </a:r>
            <a:r>
              <a:rPr lang="en-US" b="1" dirty="0"/>
              <a:t>parameterized constructor</a:t>
            </a:r>
            <a:r>
              <a:rPr lang="en-US" dirty="0"/>
              <a:t>.</a:t>
            </a:r>
          </a:p>
          <a:p>
            <a:pPr>
              <a:buNone/>
            </a:pPr>
            <a:endParaRPr lang="en-US" dirty="0"/>
          </a:p>
          <a:p>
            <a:pPr>
              <a:buNone/>
            </a:pPr>
            <a:r>
              <a:rPr lang="en-US" dirty="0"/>
              <a:t>The program should:</a:t>
            </a:r>
          </a:p>
          <a:p>
            <a:pPr>
              <a:buNone/>
            </a:pPr>
            <a:endParaRPr lang="en-US" dirty="0"/>
          </a:p>
          <a:p>
            <a:pPr>
              <a:buFont typeface="+mj-lt"/>
              <a:buAutoNum type="arabicPeriod"/>
            </a:pPr>
            <a:r>
              <a:rPr lang="en-US" dirty="0"/>
              <a:t>Create a class named </a:t>
            </a:r>
            <a:r>
              <a:rPr lang="en-US" dirty="0">
                <a:latin typeface="Courier New" panose="02070309020205020404" pitchFamily="49" charset="0"/>
              </a:rPr>
              <a:t>Calculations</a:t>
            </a:r>
            <a:r>
              <a:rPr lang="en-US" dirty="0"/>
              <a:t>. </a:t>
            </a:r>
          </a:p>
          <a:p>
            <a:pPr>
              <a:buFont typeface="+mj-lt"/>
              <a:buAutoNum type="arabicPeriod"/>
            </a:pPr>
            <a:r>
              <a:rPr lang="en-US" dirty="0"/>
              <a:t>Define a parameterized constructor </a:t>
            </a:r>
            <a:r>
              <a:rPr lang="en-US" dirty="0">
                <a:latin typeface="Courier New" panose="02070309020205020404" pitchFamily="49" charset="0"/>
              </a:rPr>
              <a:t>__</a:t>
            </a:r>
            <a:r>
              <a:rPr lang="en-US" dirty="0" err="1">
                <a:latin typeface="Courier New" panose="02070309020205020404" pitchFamily="49" charset="0"/>
              </a:rPr>
              <a:t>init</a:t>
            </a:r>
            <a:r>
              <a:rPr lang="en-US" dirty="0">
                <a:latin typeface="Courier New" panose="02070309020205020404" pitchFamily="49" charset="0"/>
              </a:rPr>
              <a:t>__(self, n1, n2)</a:t>
            </a:r>
            <a:r>
              <a:rPr lang="en-US" dirty="0"/>
              <a:t> to initialize two numbers. </a:t>
            </a:r>
          </a:p>
          <a:p>
            <a:pPr>
              <a:buFont typeface="+mj-lt"/>
              <a:buAutoNum type="arabicPeriod"/>
            </a:pPr>
            <a:r>
              <a:rPr lang="en-US" dirty="0"/>
              <a:t>Create an </a:t>
            </a:r>
            <a:r>
              <a:rPr lang="en-US" dirty="0">
                <a:latin typeface="Courier New" panose="02070309020205020404" pitchFamily="49" charset="0"/>
              </a:rPr>
              <a:t>addition()</a:t>
            </a:r>
            <a:r>
              <a:rPr lang="en-US" dirty="0"/>
              <a:t> method to calculate the sum of the two numbers. </a:t>
            </a:r>
          </a:p>
          <a:p>
            <a:pPr>
              <a:buFont typeface="+mj-lt"/>
              <a:buAutoNum type="arabicPeriod"/>
            </a:pPr>
            <a:r>
              <a:rPr lang="en-US" dirty="0"/>
              <a:t>Create a </a:t>
            </a:r>
            <a:r>
              <a:rPr lang="en-US" dirty="0">
                <a:latin typeface="Courier New" panose="02070309020205020404" pitchFamily="49" charset="0"/>
              </a:rPr>
              <a:t>subtraction()</a:t>
            </a:r>
            <a:r>
              <a:rPr lang="en-US" dirty="0"/>
              <a:t> method to calculate the difference between the two numbers. </a:t>
            </a:r>
          </a:p>
          <a:p>
            <a:pPr>
              <a:buFont typeface="+mj-lt"/>
              <a:buAutoNum type="arabicPeriod"/>
            </a:pPr>
            <a:r>
              <a:rPr lang="en-US" dirty="0"/>
              <a:t>Create an object by passing two numbers to the constructor. </a:t>
            </a:r>
          </a:p>
          <a:p>
            <a:pPr>
              <a:buFont typeface="+mj-lt"/>
              <a:buAutoNum type="arabicPeriod"/>
            </a:pPr>
            <a:r>
              <a:rPr lang="en-US" dirty="0"/>
              <a:t>Call both methods and display the results.</a:t>
            </a:r>
          </a:p>
        </p:txBody>
      </p:sp>
    </p:spTree>
    <p:extLst>
      <p:ext uri="{BB962C8B-B14F-4D97-AF65-F5344CB8AC3E}">
        <p14:creationId xmlns:p14="http://schemas.microsoft.com/office/powerpoint/2010/main" val="3518944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CE6268-6288-0A03-5FD3-8CB9086C9BB4}"/>
              </a:ext>
            </a:extLst>
          </p:cNvPr>
          <p:cNvSpPr txBox="1"/>
          <p:nvPr/>
        </p:nvSpPr>
        <p:spPr>
          <a:xfrm>
            <a:off x="895546" y="207389"/>
            <a:ext cx="8448772" cy="3693319"/>
          </a:xfrm>
          <a:prstGeom prst="rect">
            <a:avLst/>
          </a:prstGeom>
          <a:noFill/>
        </p:spPr>
        <p:txBody>
          <a:bodyPr wrap="square">
            <a:spAutoFit/>
          </a:bodyPr>
          <a:lstStyle/>
          <a:p>
            <a:pPr>
              <a:buNone/>
            </a:pPr>
            <a:r>
              <a:rPr lang="en-US" b="1" dirty="0"/>
              <a:t>Sample Input</a:t>
            </a:r>
          </a:p>
          <a:p>
            <a:pPr rtl="0">
              <a:buNone/>
            </a:pPr>
            <a:r>
              <a:rPr lang="en-US" dirty="0">
                <a:latin typeface="Courier New" panose="02070309020205020404" pitchFamily="49" charset="0"/>
              </a:rPr>
              <a:t>Enter first number: 200</a:t>
            </a:r>
          </a:p>
          <a:p>
            <a:pPr rtl="0">
              <a:buNone/>
            </a:pPr>
            <a:r>
              <a:rPr lang="en-US" dirty="0">
                <a:latin typeface="Courier New" panose="02070309020205020404" pitchFamily="49" charset="0"/>
              </a:rPr>
              <a:t>Enter second number: 100</a:t>
            </a:r>
          </a:p>
          <a:p>
            <a:pPr rtl="0">
              <a:buNone/>
            </a:pPr>
            <a:endParaRPr lang="en-US" dirty="0">
              <a:latin typeface="Courier New" panose="02070309020205020404" pitchFamily="49" charset="0"/>
            </a:endParaRPr>
          </a:p>
          <a:p>
            <a:pPr>
              <a:buNone/>
            </a:pPr>
            <a:r>
              <a:rPr lang="en-US" b="1" dirty="0"/>
              <a:t>Sample Output</a:t>
            </a:r>
          </a:p>
          <a:p>
            <a:pPr>
              <a:buNone/>
            </a:pPr>
            <a:endParaRPr lang="en-US" b="1" dirty="0"/>
          </a:p>
          <a:p>
            <a:pPr rtl="0">
              <a:buNone/>
            </a:pPr>
            <a:r>
              <a:rPr lang="en-US" dirty="0">
                <a:latin typeface="Courier New" panose="02070309020205020404" pitchFamily="49" charset="0"/>
              </a:rPr>
              <a:t>Object Instantiated</a:t>
            </a:r>
          </a:p>
          <a:p>
            <a:pPr rtl="0">
              <a:buNone/>
            </a:pPr>
            <a:r>
              <a:rPr lang="en-US" dirty="0">
                <a:latin typeface="Courier New" panose="02070309020205020404" pitchFamily="49" charset="0"/>
              </a:rPr>
              <a:t>Addition Working</a:t>
            </a:r>
          </a:p>
          <a:p>
            <a:pPr rtl="0">
              <a:buNone/>
            </a:pPr>
            <a:r>
              <a:rPr lang="en-US" dirty="0">
                <a:latin typeface="Courier New" panose="02070309020205020404" pitchFamily="49" charset="0"/>
              </a:rPr>
              <a:t>Subtraction Working</a:t>
            </a:r>
          </a:p>
          <a:p>
            <a:pPr rtl="0">
              <a:buNone/>
            </a:pPr>
            <a:endParaRPr lang="en-US" dirty="0">
              <a:latin typeface="Courier New" panose="02070309020205020404" pitchFamily="49" charset="0"/>
            </a:endParaRPr>
          </a:p>
          <a:p>
            <a:pPr rtl="0">
              <a:buNone/>
            </a:pPr>
            <a:endParaRPr lang="en-US" dirty="0">
              <a:latin typeface="Courier New" panose="02070309020205020404" pitchFamily="49" charset="0"/>
            </a:endParaRPr>
          </a:p>
          <a:p>
            <a:pPr rtl="0">
              <a:buNone/>
            </a:pPr>
            <a:r>
              <a:rPr lang="en-US" dirty="0">
                <a:latin typeface="Courier New" panose="02070309020205020404" pitchFamily="49" charset="0"/>
              </a:rPr>
              <a:t>Sum: 300</a:t>
            </a:r>
          </a:p>
          <a:p>
            <a:pPr rtl="0">
              <a:buNone/>
            </a:pPr>
            <a:r>
              <a:rPr lang="en-US" dirty="0">
                <a:latin typeface="Courier New" panose="02070309020205020404" pitchFamily="49" charset="0"/>
              </a:rPr>
              <a:t>Difference: 100</a:t>
            </a:r>
          </a:p>
        </p:txBody>
      </p:sp>
      <p:sp>
        <p:nvSpPr>
          <p:cNvPr id="7" name="TextBox 6">
            <a:extLst>
              <a:ext uri="{FF2B5EF4-FFF2-40B4-BE49-F238E27FC236}">
                <a16:creationId xmlns:a16="http://schemas.microsoft.com/office/drawing/2014/main" id="{2FAB2425-5D61-166D-D875-B7AB4564CF44}"/>
              </a:ext>
            </a:extLst>
          </p:cNvPr>
          <p:cNvSpPr txBox="1"/>
          <p:nvPr/>
        </p:nvSpPr>
        <p:spPr>
          <a:xfrm>
            <a:off x="443059" y="4809260"/>
            <a:ext cx="11038788" cy="1200329"/>
          </a:xfrm>
          <a:prstGeom prst="rect">
            <a:avLst/>
          </a:prstGeom>
          <a:noFill/>
        </p:spPr>
        <p:txBody>
          <a:bodyPr wrap="square">
            <a:spAutoFit/>
          </a:bodyPr>
          <a:lstStyle/>
          <a:p>
            <a:pPr>
              <a:buNone/>
            </a:pPr>
            <a:r>
              <a:rPr lang="en-IN" b="1" dirty="0"/>
              <a:t>Concepts Covered</a:t>
            </a:r>
          </a:p>
          <a:p>
            <a:pPr>
              <a:buNone/>
            </a:pPr>
            <a:endParaRPr lang="en-IN" b="1" dirty="0"/>
          </a:p>
          <a:p>
            <a:pPr>
              <a:buNone/>
            </a:pPr>
            <a:r>
              <a:rPr lang="en-IN" b="1" dirty="0"/>
              <a:t>Class → Object → Parameterized Constructor → </a:t>
            </a:r>
            <a:r>
              <a:rPr lang="en-IN" b="1" dirty="0">
                <a:latin typeface="Courier New" panose="02070309020205020404" pitchFamily="49" charset="0"/>
              </a:rPr>
              <a:t>__</a:t>
            </a:r>
            <a:r>
              <a:rPr lang="en-IN" b="1" dirty="0" err="1">
                <a:latin typeface="Courier New" panose="02070309020205020404" pitchFamily="49" charset="0"/>
              </a:rPr>
              <a:t>init</a:t>
            </a:r>
            <a:r>
              <a:rPr lang="en-IN" b="1" dirty="0">
                <a:latin typeface="Courier New" panose="02070309020205020404" pitchFamily="49" charset="0"/>
              </a:rPr>
              <a:t>__()</a:t>
            </a:r>
            <a:r>
              <a:rPr lang="en-IN" b="1" dirty="0"/>
              <a:t> → </a:t>
            </a:r>
            <a:r>
              <a:rPr lang="en-IN" b="1" dirty="0">
                <a:latin typeface="Courier New" panose="02070309020205020404" pitchFamily="49" charset="0"/>
              </a:rPr>
              <a:t>self</a:t>
            </a:r>
            <a:r>
              <a:rPr lang="en-IN" b="1" dirty="0"/>
              <a:t> → Instance Variables → Methods → Return Value</a:t>
            </a:r>
            <a:endParaRPr lang="en-IN" dirty="0"/>
          </a:p>
        </p:txBody>
      </p:sp>
    </p:spTree>
    <p:extLst>
      <p:ext uri="{BB962C8B-B14F-4D97-AF65-F5344CB8AC3E}">
        <p14:creationId xmlns:p14="http://schemas.microsoft.com/office/powerpoint/2010/main" val="1270007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712E5B-E325-8272-2C51-DF2391C9D710}"/>
              </a:ext>
            </a:extLst>
          </p:cNvPr>
          <p:cNvPicPr>
            <a:picLocks noChangeAspect="1"/>
          </p:cNvPicPr>
          <p:nvPr/>
        </p:nvPicPr>
        <p:blipFill>
          <a:blip r:embed="rId2"/>
          <a:stretch>
            <a:fillRect/>
          </a:stretch>
        </p:blipFill>
        <p:spPr>
          <a:xfrm>
            <a:off x="0" y="0"/>
            <a:ext cx="7378432" cy="6858000"/>
          </a:xfrm>
          <a:prstGeom prst="rect">
            <a:avLst/>
          </a:prstGeom>
        </p:spPr>
      </p:pic>
      <p:pic>
        <p:nvPicPr>
          <p:cNvPr id="7" name="Picture 6">
            <a:extLst>
              <a:ext uri="{FF2B5EF4-FFF2-40B4-BE49-F238E27FC236}">
                <a16:creationId xmlns:a16="http://schemas.microsoft.com/office/drawing/2014/main" id="{88EE7D38-568F-2418-9D87-CFA1921422BA}"/>
              </a:ext>
            </a:extLst>
          </p:cNvPr>
          <p:cNvPicPr>
            <a:picLocks noChangeAspect="1"/>
          </p:cNvPicPr>
          <p:nvPr/>
        </p:nvPicPr>
        <p:blipFill>
          <a:blip r:embed="rId3"/>
          <a:stretch>
            <a:fillRect/>
          </a:stretch>
        </p:blipFill>
        <p:spPr>
          <a:xfrm>
            <a:off x="8552942" y="4657418"/>
            <a:ext cx="3639058" cy="2200582"/>
          </a:xfrm>
          <a:prstGeom prst="rect">
            <a:avLst/>
          </a:prstGeom>
        </p:spPr>
      </p:pic>
    </p:spTree>
    <p:extLst>
      <p:ext uri="{BB962C8B-B14F-4D97-AF65-F5344CB8AC3E}">
        <p14:creationId xmlns:p14="http://schemas.microsoft.com/office/powerpoint/2010/main" val="1837106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Python Destructors - Destroying the Object</a:t>
            </a:r>
            <a:br>
              <a:rPr lang="en-US" dirty="0"/>
            </a:br>
            <a:endParaRPr lang="en-US" dirty="0"/>
          </a:p>
        </p:txBody>
      </p:sp>
      <p:sp>
        <p:nvSpPr>
          <p:cNvPr id="3" name="Content Placeholder 2"/>
          <p:cNvSpPr>
            <a:spLocks noGrp="1"/>
          </p:cNvSpPr>
          <p:nvPr>
            <p:ph idx="1"/>
          </p:nvPr>
        </p:nvSpPr>
        <p:spPr>
          <a:xfrm>
            <a:off x="677333" y="2160589"/>
            <a:ext cx="9072147" cy="4153714"/>
          </a:xfrm>
        </p:spPr>
        <p:txBody>
          <a:bodyPr/>
          <a:lstStyle/>
          <a:p>
            <a:pPr>
              <a:buFont typeface="Wingdings" pitchFamily="2" charset="2"/>
              <a:buChar char="Ø"/>
            </a:pPr>
            <a:r>
              <a:rPr lang="en-US" dirty="0"/>
              <a:t>Constructor is used to create and initialize an object, a </a:t>
            </a:r>
            <a:r>
              <a:rPr lang="en-US" b="1" dirty="0"/>
              <a:t>destructor</a:t>
            </a:r>
            <a:r>
              <a:rPr lang="en-US" dirty="0"/>
              <a:t> is used to destroy the object and perform the final clean up.</a:t>
            </a:r>
          </a:p>
          <a:p>
            <a:pPr>
              <a:buFont typeface="Wingdings" pitchFamily="2" charset="2"/>
              <a:buChar char="Ø"/>
            </a:pPr>
            <a:r>
              <a:rPr lang="en-US" dirty="0"/>
              <a:t>Although in python we do have </a:t>
            </a:r>
            <a:r>
              <a:rPr lang="en-US" b="1" dirty="0">
                <a:solidFill>
                  <a:schemeClr val="accent1">
                    <a:lumMod val="75000"/>
                  </a:schemeClr>
                </a:solidFill>
              </a:rPr>
              <a:t>garbage collector</a:t>
            </a:r>
            <a:r>
              <a:rPr lang="en-US" dirty="0">
                <a:solidFill>
                  <a:schemeClr val="accent1">
                    <a:lumMod val="75000"/>
                  </a:schemeClr>
                </a:solidFill>
              </a:rPr>
              <a:t> </a:t>
            </a:r>
            <a:r>
              <a:rPr lang="en-US" dirty="0"/>
              <a:t>to clean up the memory, but its not just memory which has to be freed when an object is </a:t>
            </a:r>
            <a:r>
              <a:rPr lang="en-US" dirty="0">
                <a:solidFill>
                  <a:schemeClr val="accent1">
                    <a:lumMod val="75000"/>
                  </a:schemeClr>
                </a:solidFill>
              </a:rPr>
              <a:t> </a:t>
            </a:r>
            <a:r>
              <a:rPr lang="en-US" dirty="0"/>
              <a:t>the buffer or cache etc. Hence when we say the </a:t>
            </a:r>
            <a:r>
              <a:rPr lang="en-US" b="1" dirty="0">
                <a:solidFill>
                  <a:schemeClr val="accent1">
                    <a:lumMod val="75000"/>
                  </a:schemeClr>
                </a:solidFill>
              </a:rPr>
              <a:t>final clean up</a:t>
            </a:r>
            <a:r>
              <a:rPr lang="en-US" dirty="0"/>
              <a:t>, it doesn't only mean cleaning up the memory resources.</a:t>
            </a:r>
          </a:p>
          <a:p>
            <a:pPr marL="0" indent="0">
              <a:buNone/>
            </a:pPr>
            <a:r>
              <a:rPr lang="en-US" dirty="0">
                <a:solidFill>
                  <a:schemeClr val="accent4">
                    <a:lumMod val="75000"/>
                  </a:schemeClr>
                </a:solidFill>
              </a:rPr>
              <a:t>Using the __del__ method</a:t>
            </a:r>
          </a:p>
          <a:p>
            <a:pPr marL="0" indent="0">
              <a:buNone/>
            </a:pPr>
            <a:r>
              <a:rPr lang="en-US" dirty="0"/>
              <a:t>Below we have a simple code for a class Example, where we have used the </a:t>
            </a:r>
            <a:r>
              <a:rPr lang="en-US" b="1" dirty="0">
                <a:solidFill>
                  <a:srgbClr val="FF0000"/>
                </a:solidFill>
              </a:rPr>
              <a:t>__</a:t>
            </a:r>
            <a:r>
              <a:rPr lang="en-US" b="1" dirty="0" err="1">
                <a:solidFill>
                  <a:srgbClr val="FF0000"/>
                </a:solidFill>
              </a:rPr>
              <a:t>init</a:t>
            </a:r>
            <a:r>
              <a:rPr lang="en-US" b="1" dirty="0">
                <a:solidFill>
                  <a:srgbClr val="FF0000"/>
                </a:solidFill>
              </a:rPr>
              <a:t>__ method to initialize our object, </a:t>
            </a:r>
            <a:r>
              <a:rPr lang="en-US" dirty="0"/>
              <a:t>while we have defined the </a:t>
            </a:r>
            <a:r>
              <a:rPr lang="en-US" dirty="0">
                <a:solidFill>
                  <a:srgbClr val="FF0000"/>
                </a:solidFill>
              </a:rPr>
              <a:t>__del__ method to act as a destructor</a:t>
            </a:r>
            <a:r>
              <a:rPr lang="en-US" dirty="0"/>
              <a:t>.</a:t>
            </a:r>
          </a:p>
          <a:p>
            <a:pPr>
              <a:buFont typeface="Wingdings" pitchFamily="2" charset="2"/>
              <a:buChar char="Ø"/>
            </a:pPr>
            <a:endParaRPr lang="en-US" dirty="0"/>
          </a:p>
        </p:txBody>
      </p:sp>
    </p:spTree>
    <p:extLst>
      <p:ext uri="{BB962C8B-B14F-4D97-AF65-F5344CB8AC3E}">
        <p14:creationId xmlns:p14="http://schemas.microsoft.com/office/powerpoint/2010/main" val="1675693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365" y="350494"/>
            <a:ext cx="6208499" cy="3789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067" y="4588036"/>
            <a:ext cx="6374928" cy="93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02365" y="5873748"/>
            <a:ext cx="6096000" cy="107722"/>
          </a:xfrm>
          <a:prstGeom prst="rect">
            <a:avLst/>
          </a:prstGeom>
        </p:spPr>
        <p:txBody>
          <a:bodyPr>
            <a:spAutoFit/>
          </a:bodyPr>
          <a:lstStyle/>
          <a:p>
            <a:r>
              <a:rPr lang="en-US" sz="100" dirty="0"/>
              <a:t>https://www.studytonight.com/python/inheritance-in-python</a:t>
            </a:r>
          </a:p>
        </p:txBody>
      </p:sp>
    </p:spTree>
    <p:extLst>
      <p:ext uri="{BB962C8B-B14F-4D97-AF65-F5344CB8AC3E}">
        <p14:creationId xmlns:p14="http://schemas.microsoft.com/office/powerpoint/2010/main" val="24225932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14100</TotalTime>
  <Words>1313</Words>
  <Application>Microsoft Office PowerPoint</Application>
  <PresentationFormat>Widescreen</PresentationFormat>
  <Paragraphs>194</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Courier New</vt:lpstr>
      <vt:lpstr>Trebuchet MS</vt:lpstr>
      <vt:lpstr>Wingdings</vt:lpstr>
      <vt:lpstr>Wingdings 3</vt:lpstr>
      <vt:lpstr>Facet</vt:lpstr>
      <vt:lpstr>OOPs in Python </vt:lpstr>
      <vt:lpstr>List of OOPs concepts </vt:lpstr>
      <vt:lpstr>Defining a Class in Python   </vt:lpstr>
      <vt:lpstr>PowerPoint Presentation</vt:lpstr>
      <vt:lpstr>PowerPoint Presentation</vt:lpstr>
      <vt:lpstr>PowerPoint Presentation</vt:lpstr>
      <vt:lpstr>PowerPoint Presentation</vt:lpstr>
      <vt:lpstr>Python - Constructor</vt:lpstr>
      <vt:lpstr>PowerPoint Presentation</vt:lpstr>
      <vt:lpstr>Python – Parameterized constructor  </vt:lpstr>
      <vt:lpstr>PowerPoint Presentation</vt:lpstr>
      <vt:lpstr>Problem Statement: Student Details Management System</vt:lpstr>
      <vt:lpstr>PowerPoint Presentation</vt:lpstr>
      <vt:lpstr>PowerPoint Presentation</vt:lpstr>
      <vt:lpstr>PowerPoint Presentation</vt:lpstr>
      <vt:lpstr>PowerPoint Presentation</vt:lpstr>
      <vt:lpstr>Problem Statement: Calculator Using Parameterized Constructor</vt:lpstr>
      <vt:lpstr>PowerPoint Presentation</vt:lpstr>
      <vt:lpstr>PowerPoint Presentation</vt:lpstr>
      <vt:lpstr>Python Destructors - Destroying the Object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admin</dc:creator>
  <cp:lastModifiedBy>Jayaprakash Subramaniam - Adjunct Faculty (WD)</cp:lastModifiedBy>
  <cp:revision>2505</cp:revision>
  <dcterms:created xsi:type="dcterms:W3CDTF">2017-12-06T04:46:07Z</dcterms:created>
  <dcterms:modified xsi:type="dcterms:W3CDTF">2026-09-17T09:05:06Z</dcterms:modified>
</cp:coreProperties>
</file>